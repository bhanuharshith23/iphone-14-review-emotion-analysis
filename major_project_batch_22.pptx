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75" r:id="rId6"/>
    <p:sldId id="262" r:id="rId7"/>
    <p:sldId id="273" r:id="rId8"/>
    <p:sldId id="263" r:id="rId9"/>
    <p:sldId id="264" r:id="rId10"/>
    <p:sldId id="265" r:id="rId11"/>
    <p:sldId id="266" r:id="rId12"/>
    <p:sldId id="272" r:id="rId13"/>
    <p:sldId id="267" r:id="rId14"/>
    <p:sldId id="268" r:id="rId15"/>
    <p:sldId id="269" r:id="rId16"/>
    <p:sldId id="270"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725"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8890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8890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8890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10/15/2025</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8890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10/15/2025</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8890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19654" y="46736"/>
            <a:ext cx="7552690" cy="910208"/>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824230" y="1393253"/>
            <a:ext cx="10372725" cy="385445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10/15/2025</a:t>
            </a:fld>
            <a:endParaRPr lang="en-US"/>
          </a:p>
        </p:txBody>
      </p:sp>
      <p:sp>
        <p:nvSpPr>
          <p:cNvPr id="6" name="Holder 6"/>
          <p:cNvSpPr>
            <a:spLocks noGrp="1"/>
          </p:cNvSpPr>
          <p:nvPr>
            <p:ph type="sldNum" sz="quarter" idx="7"/>
          </p:nvPr>
        </p:nvSpPr>
        <p:spPr>
          <a:xfrm>
            <a:off x="11107801" y="6472554"/>
            <a:ext cx="217170"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8890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163175" y="0"/>
            <a:ext cx="2028825" cy="1333500"/>
          </a:xfrm>
          <a:prstGeom prst="rect">
            <a:avLst/>
          </a:prstGeom>
        </p:spPr>
      </p:pic>
      <p:sp>
        <p:nvSpPr>
          <p:cNvPr id="3" name="object 3"/>
          <p:cNvSpPr txBox="1">
            <a:spLocks noGrp="1"/>
          </p:cNvSpPr>
          <p:nvPr>
            <p:ph type="title"/>
          </p:nvPr>
        </p:nvSpPr>
        <p:spPr>
          <a:xfrm>
            <a:off x="2902966" y="46736"/>
            <a:ext cx="6804025" cy="449580"/>
          </a:xfrm>
          <a:prstGeom prst="rect">
            <a:avLst/>
          </a:prstGeom>
        </p:spPr>
        <p:txBody>
          <a:bodyPr vert="horz" wrap="square" lIns="0" tIns="16510" rIns="0" bIns="0" rtlCol="0">
            <a:spAutoFit/>
          </a:bodyPr>
          <a:lstStyle/>
          <a:p>
            <a:pPr marL="12700">
              <a:lnSpc>
                <a:spcPct val="100000"/>
              </a:lnSpc>
              <a:spcBef>
                <a:spcPts val="130"/>
              </a:spcBef>
            </a:pPr>
            <a:r>
              <a:rPr sz="2750" dirty="0"/>
              <a:t>St.</a:t>
            </a:r>
            <a:r>
              <a:rPr sz="2750" spc="35" dirty="0"/>
              <a:t> </a:t>
            </a:r>
            <a:r>
              <a:rPr sz="2750" dirty="0"/>
              <a:t>MARTIN’S</a:t>
            </a:r>
            <a:r>
              <a:rPr sz="2750" spc="90" dirty="0"/>
              <a:t> </a:t>
            </a:r>
            <a:r>
              <a:rPr sz="2750" dirty="0"/>
              <a:t>ENGINEERING</a:t>
            </a:r>
            <a:r>
              <a:rPr sz="2750" spc="225" dirty="0"/>
              <a:t> </a:t>
            </a:r>
            <a:r>
              <a:rPr sz="2750" spc="-10" dirty="0"/>
              <a:t>COLLEGE</a:t>
            </a:r>
            <a:endParaRPr sz="2750"/>
          </a:p>
        </p:txBody>
      </p:sp>
      <p:sp>
        <p:nvSpPr>
          <p:cNvPr id="4" name="object 4"/>
          <p:cNvSpPr txBox="1"/>
          <p:nvPr/>
        </p:nvSpPr>
        <p:spPr>
          <a:xfrm>
            <a:off x="4544059" y="478091"/>
            <a:ext cx="3103880" cy="950594"/>
          </a:xfrm>
          <a:prstGeom prst="rect">
            <a:avLst/>
          </a:prstGeom>
        </p:spPr>
        <p:txBody>
          <a:bodyPr vert="horz" wrap="square" lIns="0" tIns="80645" rIns="0" bIns="0" rtlCol="0">
            <a:spAutoFit/>
          </a:bodyPr>
          <a:lstStyle/>
          <a:p>
            <a:pPr marR="1270" algn="ctr">
              <a:lnSpc>
                <a:spcPct val="100000"/>
              </a:lnSpc>
              <a:spcBef>
                <a:spcPts val="635"/>
              </a:spcBef>
            </a:pPr>
            <a:r>
              <a:rPr sz="1550" b="1" dirty="0">
                <a:latin typeface="Times New Roman"/>
                <a:cs typeface="Times New Roman"/>
              </a:rPr>
              <a:t>UGC</a:t>
            </a:r>
            <a:r>
              <a:rPr sz="1550" b="1" spc="-30" dirty="0">
                <a:latin typeface="Times New Roman"/>
                <a:cs typeface="Times New Roman"/>
              </a:rPr>
              <a:t> </a:t>
            </a:r>
            <a:r>
              <a:rPr sz="1550" b="1" spc="-10" dirty="0">
                <a:latin typeface="Times New Roman"/>
                <a:cs typeface="Times New Roman"/>
              </a:rPr>
              <a:t>Autonomous</a:t>
            </a:r>
            <a:endParaRPr sz="1550" dirty="0">
              <a:latin typeface="Times New Roman"/>
              <a:cs typeface="Times New Roman"/>
            </a:endParaRPr>
          </a:p>
          <a:p>
            <a:pPr marL="6350" algn="ctr">
              <a:lnSpc>
                <a:spcPct val="100000"/>
              </a:lnSpc>
              <a:spcBef>
                <a:spcPts val="545"/>
              </a:spcBef>
            </a:pPr>
            <a:r>
              <a:rPr sz="1550" b="1" dirty="0">
                <a:latin typeface="Times New Roman"/>
                <a:cs typeface="Times New Roman"/>
              </a:rPr>
              <a:t>NBA</a:t>
            </a:r>
            <a:r>
              <a:rPr sz="1550" b="1" spc="-80" dirty="0">
                <a:latin typeface="Times New Roman"/>
                <a:cs typeface="Times New Roman"/>
              </a:rPr>
              <a:t> </a:t>
            </a:r>
            <a:r>
              <a:rPr sz="1550" b="1" dirty="0">
                <a:latin typeface="Times New Roman"/>
                <a:cs typeface="Times New Roman"/>
              </a:rPr>
              <a:t>&amp;</a:t>
            </a:r>
            <a:r>
              <a:rPr sz="1550" b="1" spc="60" dirty="0">
                <a:latin typeface="Times New Roman"/>
                <a:cs typeface="Times New Roman"/>
              </a:rPr>
              <a:t> </a:t>
            </a:r>
            <a:r>
              <a:rPr sz="1550" b="1" dirty="0">
                <a:latin typeface="Times New Roman"/>
                <a:cs typeface="Times New Roman"/>
              </a:rPr>
              <a:t>NAAC</a:t>
            </a:r>
            <a:r>
              <a:rPr sz="1550" b="1" spc="85" dirty="0">
                <a:latin typeface="Times New Roman"/>
                <a:cs typeface="Times New Roman"/>
              </a:rPr>
              <a:t> </a:t>
            </a:r>
            <a:r>
              <a:rPr sz="1550" b="1" dirty="0">
                <a:latin typeface="Times New Roman"/>
                <a:cs typeface="Times New Roman"/>
              </a:rPr>
              <a:t>A+</a:t>
            </a:r>
            <a:r>
              <a:rPr sz="1550" b="1" spc="-60" dirty="0">
                <a:latin typeface="Times New Roman"/>
                <a:cs typeface="Times New Roman"/>
              </a:rPr>
              <a:t> </a:t>
            </a:r>
            <a:r>
              <a:rPr sz="1550" b="1" spc="-10" dirty="0">
                <a:latin typeface="Times New Roman"/>
                <a:cs typeface="Times New Roman"/>
              </a:rPr>
              <a:t>ACCREDITED</a:t>
            </a:r>
            <a:endParaRPr sz="1550" dirty="0">
              <a:latin typeface="Times New Roman"/>
              <a:cs typeface="Times New Roman"/>
            </a:endParaRPr>
          </a:p>
          <a:p>
            <a:pPr algn="ctr">
              <a:lnSpc>
                <a:spcPct val="100000"/>
              </a:lnSpc>
              <a:spcBef>
                <a:spcPts val="615"/>
              </a:spcBef>
            </a:pPr>
            <a:r>
              <a:rPr sz="1550" b="1" spc="-10" dirty="0">
                <a:latin typeface="Times New Roman"/>
                <a:cs typeface="Times New Roman"/>
              </a:rPr>
              <a:t>Dhulapally,</a:t>
            </a:r>
            <a:r>
              <a:rPr sz="1550" b="1" spc="229" dirty="0">
                <a:latin typeface="Times New Roman"/>
                <a:cs typeface="Times New Roman"/>
              </a:rPr>
              <a:t> </a:t>
            </a:r>
            <a:r>
              <a:rPr sz="1550" b="1" dirty="0">
                <a:latin typeface="Times New Roman"/>
                <a:cs typeface="Times New Roman"/>
              </a:rPr>
              <a:t>Secunderabad–</a:t>
            </a:r>
            <a:r>
              <a:rPr sz="1550" b="1" spc="235" dirty="0">
                <a:latin typeface="Times New Roman"/>
                <a:cs typeface="Times New Roman"/>
              </a:rPr>
              <a:t> </a:t>
            </a:r>
            <a:r>
              <a:rPr sz="1550" b="1" spc="-10" dirty="0">
                <a:latin typeface="Times New Roman"/>
                <a:cs typeface="Times New Roman"/>
              </a:rPr>
              <a:t>500100</a:t>
            </a:r>
            <a:endParaRPr sz="1550" dirty="0">
              <a:latin typeface="Times New Roman"/>
              <a:cs typeface="Times New Roman"/>
            </a:endParaRPr>
          </a:p>
        </p:txBody>
      </p:sp>
      <p:sp>
        <p:nvSpPr>
          <p:cNvPr id="5" name="object 5"/>
          <p:cNvSpPr txBox="1"/>
          <p:nvPr/>
        </p:nvSpPr>
        <p:spPr>
          <a:xfrm>
            <a:off x="-1371600" y="1428685"/>
            <a:ext cx="13258800" cy="1805623"/>
          </a:xfrm>
          <a:prstGeom prst="rect">
            <a:avLst/>
          </a:prstGeom>
        </p:spPr>
        <p:txBody>
          <a:bodyPr vert="horz" wrap="square" lIns="0" tIns="193040" rIns="0" bIns="0" rtlCol="0">
            <a:spAutoFit/>
          </a:bodyPr>
          <a:lstStyle/>
          <a:p>
            <a:pPr marL="1793875">
              <a:lnSpc>
                <a:spcPct val="100000"/>
              </a:lnSpc>
              <a:spcBef>
                <a:spcPts val="1520"/>
              </a:spcBef>
            </a:pPr>
            <a:r>
              <a:rPr lang="en-US" sz="2400" dirty="0">
                <a:latin typeface="Times New Roman"/>
                <a:cs typeface="Times New Roman"/>
              </a:rPr>
              <a:t>                               </a:t>
            </a:r>
            <a:r>
              <a:rPr sz="2400" dirty="0">
                <a:latin typeface="Times New Roman"/>
                <a:cs typeface="Times New Roman"/>
              </a:rPr>
              <a:t>Department of</a:t>
            </a:r>
            <a:r>
              <a:rPr sz="2400" spc="-150" dirty="0">
                <a:latin typeface="Times New Roman"/>
                <a:cs typeface="Times New Roman"/>
              </a:rPr>
              <a:t> </a:t>
            </a:r>
            <a:r>
              <a:rPr lang="en-US" sz="2400" spc="-150" dirty="0">
                <a:latin typeface="Times New Roman"/>
                <a:cs typeface="Times New Roman"/>
              </a:rPr>
              <a:t> </a:t>
            </a:r>
            <a:r>
              <a:rPr sz="2150" dirty="0">
                <a:latin typeface="Times New Roman"/>
                <a:cs typeface="Times New Roman"/>
              </a:rPr>
              <a:t>INFORMATION</a:t>
            </a:r>
            <a:r>
              <a:rPr sz="2150" spc="95" dirty="0">
                <a:latin typeface="Times New Roman"/>
                <a:cs typeface="Times New Roman"/>
              </a:rPr>
              <a:t> </a:t>
            </a:r>
            <a:r>
              <a:rPr sz="2150" spc="-10" dirty="0">
                <a:latin typeface="Times New Roman"/>
                <a:cs typeface="Times New Roman"/>
              </a:rPr>
              <a:t>TECHNOLOGY</a:t>
            </a:r>
            <a:endParaRPr lang="en-US" sz="2150" dirty="0">
              <a:latin typeface="Times New Roman"/>
              <a:cs typeface="Times New Roman"/>
            </a:endParaRPr>
          </a:p>
          <a:p>
            <a:pPr marL="1793875">
              <a:lnSpc>
                <a:spcPct val="100000"/>
              </a:lnSpc>
              <a:spcBef>
                <a:spcPts val="1520"/>
              </a:spcBef>
            </a:pPr>
            <a:r>
              <a:rPr lang="en-US" sz="2750" b="1" spc="-60" dirty="0">
                <a:latin typeface="Times New Roman"/>
                <a:cs typeface="Times New Roman"/>
              </a:rPr>
              <a:t>Decoding Customer Emotions: An NLP Approach to iPhone 14 Review Analysis </a:t>
            </a:r>
          </a:p>
          <a:p>
            <a:pPr marR="218440" algn="ctr">
              <a:lnSpc>
                <a:spcPct val="100000"/>
              </a:lnSpc>
              <a:spcBef>
                <a:spcPts val="2010"/>
              </a:spcBef>
            </a:pPr>
            <a:r>
              <a:rPr lang="en-US" sz="2400" b="1" dirty="0">
                <a:latin typeface="Times New Roman"/>
                <a:cs typeface="Times New Roman"/>
              </a:rPr>
              <a:t>                 </a:t>
            </a:r>
            <a:r>
              <a:rPr sz="2400" b="1" dirty="0">
                <a:latin typeface="Times New Roman"/>
                <a:cs typeface="Times New Roman"/>
              </a:rPr>
              <a:t>Batch</a:t>
            </a:r>
            <a:r>
              <a:rPr sz="2400" b="1" spc="-55" dirty="0">
                <a:latin typeface="Times New Roman"/>
                <a:cs typeface="Times New Roman"/>
              </a:rPr>
              <a:t> </a:t>
            </a:r>
            <a:r>
              <a:rPr sz="2400" b="1" dirty="0">
                <a:latin typeface="Times New Roman"/>
                <a:cs typeface="Times New Roman"/>
              </a:rPr>
              <a:t>No:</a:t>
            </a:r>
            <a:r>
              <a:rPr sz="2400" b="1" spc="35" dirty="0">
                <a:latin typeface="Times New Roman"/>
                <a:cs typeface="Times New Roman"/>
              </a:rPr>
              <a:t> </a:t>
            </a:r>
            <a:r>
              <a:rPr lang="en-IN" sz="2400" b="1" spc="-25" dirty="0">
                <a:latin typeface="Times New Roman"/>
                <a:cs typeface="Times New Roman"/>
              </a:rPr>
              <a:t>22</a:t>
            </a:r>
            <a:endParaRPr sz="2400" dirty="0">
              <a:latin typeface="Times New Roman"/>
              <a:cs typeface="Times New Roman"/>
            </a:endParaRPr>
          </a:p>
        </p:txBody>
      </p:sp>
      <p:pic>
        <p:nvPicPr>
          <p:cNvPr id="6" name="object 6"/>
          <p:cNvPicPr/>
          <p:nvPr/>
        </p:nvPicPr>
        <p:blipFill>
          <a:blip r:embed="rId3" cstate="print"/>
          <a:stretch>
            <a:fillRect/>
          </a:stretch>
        </p:blipFill>
        <p:spPr>
          <a:xfrm>
            <a:off x="219075" y="95250"/>
            <a:ext cx="1457325" cy="1238250"/>
          </a:xfrm>
          <a:prstGeom prst="rect">
            <a:avLst/>
          </a:prstGeom>
        </p:spPr>
      </p:pic>
      <p:sp>
        <p:nvSpPr>
          <p:cNvPr id="7" name="object 7"/>
          <p:cNvSpPr txBox="1"/>
          <p:nvPr/>
        </p:nvSpPr>
        <p:spPr>
          <a:xfrm>
            <a:off x="2902965" y="3447413"/>
            <a:ext cx="2964434" cy="1518364"/>
          </a:xfrm>
          <a:prstGeom prst="rect">
            <a:avLst/>
          </a:prstGeom>
        </p:spPr>
        <p:txBody>
          <a:bodyPr vert="horz" wrap="square" lIns="0" tIns="12700" rIns="0" bIns="0" rtlCol="0">
            <a:spAutoFit/>
          </a:bodyPr>
          <a:lstStyle/>
          <a:p>
            <a:pPr marL="12700">
              <a:lnSpc>
                <a:spcPct val="100000"/>
              </a:lnSpc>
              <a:spcBef>
                <a:spcPts val="100"/>
              </a:spcBef>
              <a:tabLst>
                <a:tab pos="316230" algn="l"/>
              </a:tabLst>
            </a:pPr>
            <a:r>
              <a:rPr lang="en-US" sz="2400" b="1" dirty="0" err="1">
                <a:latin typeface="Times New Roman"/>
                <a:cs typeface="Times New Roman"/>
              </a:rPr>
              <a:t>M.Bhanuharshith</a:t>
            </a:r>
            <a:endParaRPr sz="2400" dirty="0">
              <a:latin typeface="Times New Roman"/>
              <a:cs typeface="Times New Roman"/>
            </a:endParaRPr>
          </a:p>
          <a:p>
            <a:pPr marL="12700">
              <a:lnSpc>
                <a:spcPts val="2865"/>
              </a:lnSpc>
              <a:tabLst>
                <a:tab pos="316230" algn="l"/>
              </a:tabLst>
            </a:pPr>
            <a:r>
              <a:rPr lang="en-US" sz="2400" b="1" dirty="0" err="1">
                <a:latin typeface="Times New Roman"/>
                <a:cs typeface="Times New Roman"/>
              </a:rPr>
              <a:t>M.Muqueeth</a:t>
            </a:r>
            <a:r>
              <a:rPr lang="en-US" sz="2400" b="1" dirty="0">
                <a:latin typeface="Times New Roman"/>
                <a:cs typeface="Times New Roman"/>
              </a:rPr>
              <a:t> </a:t>
            </a:r>
            <a:r>
              <a:rPr lang="en-US" sz="2400" b="1" dirty="0" err="1">
                <a:latin typeface="Times New Roman"/>
                <a:cs typeface="Times New Roman"/>
              </a:rPr>
              <a:t>baig</a:t>
            </a:r>
            <a:endParaRPr sz="2400" dirty="0">
              <a:latin typeface="Times New Roman"/>
              <a:cs typeface="Times New Roman"/>
            </a:endParaRPr>
          </a:p>
          <a:p>
            <a:pPr marL="12700">
              <a:lnSpc>
                <a:spcPct val="100000"/>
              </a:lnSpc>
              <a:spcBef>
                <a:spcPts val="50"/>
              </a:spcBef>
              <a:tabLst>
                <a:tab pos="316230" algn="l"/>
              </a:tabLst>
            </a:pPr>
            <a:r>
              <a:rPr lang="en-US" sz="2400" b="1" spc="-50" dirty="0" err="1">
                <a:latin typeface="Times New Roman"/>
                <a:cs typeface="Times New Roman"/>
              </a:rPr>
              <a:t>J.Saiteja</a:t>
            </a:r>
            <a:endParaRPr lang="en-US" sz="2400" b="1" spc="-50" dirty="0">
              <a:latin typeface="Times New Roman"/>
              <a:cs typeface="Times New Roman"/>
            </a:endParaRPr>
          </a:p>
          <a:p>
            <a:pPr marL="12700">
              <a:lnSpc>
                <a:spcPct val="100000"/>
              </a:lnSpc>
              <a:spcBef>
                <a:spcPts val="50"/>
              </a:spcBef>
              <a:tabLst>
                <a:tab pos="316230" algn="l"/>
              </a:tabLst>
            </a:pPr>
            <a:r>
              <a:rPr lang="en-US" sz="2400" b="1" spc="-50" dirty="0" err="1">
                <a:latin typeface="Times New Roman"/>
                <a:cs typeface="Times New Roman"/>
              </a:rPr>
              <a:t>Y.Venkatesh</a:t>
            </a:r>
            <a:endParaRPr sz="2400" dirty="0">
              <a:latin typeface="Times New Roman"/>
              <a:cs typeface="Times New Roman"/>
            </a:endParaRPr>
          </a:p>
        </p:txBody>
      </p:sp>
      <p:sp>
        <p:nvSpPr>
          <p:cNvPr id="8" name="object 8"/>
          <p:cNvSpPr txBox="1"/>
          <p:nvPr/>
        </p:nvSpPr>
        <p:spPr>
          <a:xfrm>
            <a:off x="6324603" y="3429000"/>
            <a:ext cx="2133600" cy="1494192"/>
          </a:xfrm>
          <a:prstGeom prst="rect">
            <a:avLst/>
          </a:prstGeom>
        </p:spPr>
        <p:txBody>
          <a:bodyPr vert="horz" wrap="square" lIns="0" tIns="10160" rIns="0" bIns="0" rtlCol="0">
            <a:spAutoFit/>
          </a:bodyPr>
          <a:lstStyle/>
          <a:p>
            <a:pPr marL="12700" marR="5080" indent="28575" algn="just">
              <a:lnSpc>
                <a:spcPct val="100800"/>
              </a:lnSpc>
              <a:spcBef>
                <a:spcPts val="80"/>
              </a:spcBef>
            </a:pPr>
            <a:r>
              <a:rPr sz="2400" b="1" spc="-10" dirty="0">
                <a:latin typeface="Times New Roman"/>
                <a:cs typeface="Times New Roman"/>
              </a:rPr>
              <a:t>(22K81A12</a:t>
            </a:r>
            <a:r>
              <a:rPr lang="en-US" sz="2400" b="1" spc="-10" dirty="0">
                <a:latin typeface="Times New Roman"/>
                <a:cs typeface="Times New Roman"/>
              </a:rPr>
              <a:t>A8</a:t>
            </a:r>
            <a:r>
              <a:rPr sz="2400" b="1" spc="-10" dirty="0">
                <a:latin typeface="Times New Roman"/>
                <a:cs typeface="Times New Roman"/>
              </a:rPr>
              <a:t>)  (22K81A12</a:t>
            </a:r>
            <a:r>
              <a:rPr lang="en-US" sz="2400" b="1" spc="-10" dirty="0">
                <a:latin typeface="Times New Roman"/>
                <a:cs typeface="Times New Roman"/>
              </a:rPr>
              <a:t>A7</a:t>
            </a:r>
            <a:r>
              <a:rPr sz="2400" b="1" spc="-10" dirty="0">
                <a:latin typeface="Times New Roman"/>
                <a:cs typeface="Times New Roman"/>
              </a:rPr>
              <a:t>) (</a:t>
            </a:r>
            <a:r>
              <a:rPr lang="en-IN" sz="2400" b="1" spc="-10" dirty="0">
                <a:latin typeface="Times New Roman"/>
                <a:cs typeface="Times New Roman"/>
              </a:rPr>
              <a:t>23K85A1212</a:t>
            </a:r>
            <a:r>
              <a:rPr sz="2400" b="1" spc="-10" dirty="0">
                <a:latin typeface="Times New Roman"/>
                <a:cs typeface="Times New Roman"/>
              </a:rPr>
              <a:t>)</a:t>
            </a:r>
            <a:endParaRPr lang="en-IN" sz="2400" b="1" spc="-10" dirty="0">
              <a:latin typeface="Times New Roman"/>
              <a:cs typeface="Times New Roman"/>
            </a:endParaRPr>
          </a:p>
          <a:p>
            <a:pPr marL="12700" marR="5080" indent="28575" algn="just">
              <a:lnSpc>
                <a:spcPct val="100800"/>
              </a:lnSpc>
              <a:spcBef>
                <a:spcPts val="80"/>
              </a:spcBef>
            </a:pPr>
            <a:r>
              <a:rPr lang="en-IN" sz="2400" b="1" dirty="0">
                <a:latin typeface="Times New Roman"/>
                <a:cs typeface="Times New Roman"/>
              </a:rPr>
              <a:t>(23K85A1208)</a:t>
            </a:r>
            <a:endParaRPr sz="2400" b="1" dirty="0">
              <a:latin typeface="Times New Roman"/>
              <a:cs typeface="Times New Roman"/>
            </a:endParaRPr>
          </a:p>
        </p:txBody>
      </p:sp>
      <p:sp>
        <p:nvSpPr>
          <p:cNvPr id="9" name="object 9"/>
          <p:cNvSpPr txBox="1"/>
          <p:nvPr/>
        </p:nvSpPr>
        <p:spPr>
          <a:xfrm>
            <a:off x="3289617" y="5131422"/>
            <a:ext cx="5155565" cy="1511311"/>
          </a:xfrm>
          <a:prstGeom prst="rect">
            <a:avLst/>
          </a:prstGeom>
        </p:spPr>
        <p:txBody>
          <a:bodyPr vert="horz" wrap="square" lIns="0" tIns="15875" rIns="0" bIns="0" rtlCol="0">
            <a:spAutoFit/>
          </a:bodyPr>
          <a:lstStyle/>
          <a:p>
            <a:pPr marR="5080" algn="ctr">
              <a:lnSpc>
                <a:spcPct val="100000"/>
              </a:lnSpc>
              <a:spcBef>
                <a:spcPts val="125"/>
              </a:spcBef>
            </a:pPr>
            <a:r>
              <a:rPr sz="2150" b="1" dirty="0">
                <a:latin typeface="Times New Roman"/>
                <a:cs typeface="Times New Roman"/>
              </a:rPr>
              <a:t>Under</a:t>
            </a:r>
            <a:r>
              <a:rPr sz="2150" b="1" spc="75" dirty="0">
                <a:latin typeface="Times New Roman"/>
                <a:cs typeface="Times New Roman"/>
              </a:rPr>
              <a:t> </a:t>
            </a:r>
            <a:r>
              <a:rPr sz="2150" b="1" dirty="0">
                <a:latin typeface="Times New Roman"/>
                <a:cs typeface="Times New Roman"/>
              </a:rPr>
              <a:t>the</a:t>
            </a:r>
            <a:r>
              <a:rPr sz="2150" b="1" spc="-5" dirty="0">
                <a:latin typeface="Times New Roman"/>
                <a:cs typeface="Times New Roman"/>
              </a:rPr>
              <a:t> </a:t>
            </a:r>
            <a:r>
              <a:rPr sz="2150" b="1" dirty="0">
                <a:latin typeface="Times New Roman"/>
                <a:cs typeface="Times New Roman"/>
              </a:rPr>
              <a:t>Guidance</a:t>
            </a:r>
            <a:r>
              <a:rPr sz="2150" b="1" spc="225" dirty="0">
                <a:latin typeface="Times New Roman"/>
                <a:cs typeface="Times New Roman"/>
              </a:rPr>
              <a:t> </a:t>
            </a:r>
            <a:r>
              <a:rPr sz="2150" b="1" spc="-25" dirty="0">
                <a:latin typeface="Times New Roman"/>
                <a:cs typeface="Times New Roman"/>
              </a:rPr>
              <a:t>of</a:t>
            </a:r>
            <a:endParaRPr sz="2150" dirty="0">
              <a:latin typeface="Times New Roman"/>
              <a:cs typeface="Times New Roman"/>
            </a:endParaRPr>
          </a:p>
          <a:p>
            <a:pPr algn="ctr">
              <a:lnSpc>
                <a:spcPts val="2390"/>
              </a:lnSpc>
              <a:spcBef>
                <a:spcPts val="50"/>
              </a:spcBef>
            </a:pPr>
            <a:r>
              <a:rPr lang="en-IN" sz="2000" b="1" dirty="0">
                <a:latin typeface="Times New Roman"/>
                <a:cs typeface="Times New Roman"/>
              </a:rPr>
              <a:t>Mr. V Chandra Prakash</a:t>
            </a:r>
            <a:endParaRPr sz="2000" b="1" dirty="0">
              <a:latin typeface="Times New Roman"/>
              <a:cs typeface="Times New Roman"/>
            </a:endParaRPr>
          </a:p>
          <a:p>
            <a:pPr marR="50165" algn="ctr">
              <a:lnSpc>
                <a:spcPts val="2870"/>
              </a:lnSpc>
            </a:pPr>
            <a:r>
              <a:rPr sz="2400" b="1" dirty="0">
                <a:latin typeface="Times New Roman"/>
                <a:cs typeface="Times New Roman"/>
              </a:rPr>
              <a:t>Assistant</a:t>
            </a:r>
            <a:r>
              <a:rPr sz="2400" b="1" spc="-15" dirty="0">
                <a:latin typeface="Times New Roman"/>
                <a:cs typeface="Times New Roman"/>
              </a:rPr>
              <a:t> </a:t>
            </a:r>
            <a:r>
              <a:rPr sz="2400" b="1" spc="-10" dirty="0">
                <a:latin typeface="Times New Roman"/>
                <a:cs typeface="Times New Roman"/>
              </a:rPr>
              <a:t>professor</a:t>
            </a:r>
            <a:endParaRPr sz="2400" dirty="0">
              <a:latin typeface="Times New Roman"/>
              <a:cs typeface="Times New Roman"/>
            </a:endParaRPr>
          </a:p>
          <a:p>
            <a:pPr algn="ctr">
              <a:lnSpc>
                <a:spcPct val="100000"/>
              </a:lnSpc>
              <a:spcBef>
                <a:spcPts val="765"/>
              </a:spcBef>
            </a:pPr>
            <a:r>
              <a:rPr sz="2400" b="1" dirty="0">
                <a:latin typeface="Times New Roman"/>
                <a:cs typeface="Times New Roman"/>
              </a:rPr>
              <a:t>Department</a:t>
            </a:r>
            <a:r>
              <a:rPr sz="2400" b="1" spc="-80" dirty="0">
                <a:latin typeface="Times New Roman"/>
                <a:cs typeface="Times New Roman"/>
              </a:rPr>
              <a:t> </a:t>
            </a:r>
            <a:r>
              <a:rPr sz="2400" b="1" dirty="0">
                <a:latin typeface="Times New Roman"/>
                <a:cs typeface="Times New Roman"/>
              </a:rPr>
              <a:t>of</a:t>
            </a:r>
            <a:r>
              <a:rPr sz="2400" b="1" spc="20" dirty="0">
                <a:latin typeface="Times New Roman"/>
                <a:cs typeface="Times New Roman"/>
              </a:rPr>
              <a:t> </a:t>
            </a:r>
            <a:r>
              <a:rPr sz="2400" b="1" dirty="0">
                <a:latin typeface="Times New Roman"/>
                <a:cs typeface="Times New Roman"/>
              </a:rPr>
              <a:t>Information</a:t>
            </a:r>
            <a:r>
              <a:rPr sz="2400" b="1" spc="-90" dirty="0">
                <a:latin typeface="Times New Roman"/>
                <a:cs typeface="Times New Roman"/>
              </a:rPr>
              <a:t> </a:t>
            </a:r>
            <a:r>
              <a:rPr sz="2400" b="1" spc="-10" dirty="0">
                <a:latin typeface="Times New Roman"/>
                <a:cs typeface="Times New Roman"/>
              </a:rPr>
              <a:t>Technology</a:t>
            </a:r>
            <a:endParaRPr sz="2400" dirty="0">
              <a:latin typeface="Times New Roman"/>
              <a:cs typeface="Times New Roman"/>
            </a:endParaRPr>
          </a:p>
        </p:txBody>
      </p:sp>
      <p:sp>
        <p:nvSpPr>
          <p:cNvPr id="10" name="object 10"/>
          <p:cNvSpPr txBox="1"/>
          <p:nvPr/>
        </p:nvSpPr>
        <p:spPr>
          <a:xfrm>
            <a:off x="11184890" y="643445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a:cs typeface="Calibri"/>
              </a:rPr>
              <a:t>1</a:t>
            </a:r>
            <a:endParaRPr sz="12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88900">
              <a:lnSpc>
                <a:spcPts val="1240"/>
              </a:lnSpc>
            </a:pPr>
            <a:fld id="{81D60167-4931-47E6-BA6A-407CBD079E47}" type="slidenum">
              <a:rPr spc="-50" dirty="0"/>
              <a:t>2</a:t>
            </a:fld>
            <a:endParaRPr spc="-50" dirty="0"/>
          </a:p>
        </p:txBody>
      </p:sp>
      <p:sp>
        <p:nvSpPr>
          <p:cNvPr id="2" name="object 2"/>
          <p:cNvSpPr txBox="1">
            <a:spLocks noGrp="1"/>
          </p:cNvSpPr>
          <p:nvPr>
            <p:ph type="title"/>
          </p:nvPr>
        </p:nvSpPr>
        <p:spPr>
          <a:prstGeom prst="rect">
            <a:avLst/>
          </a:prstGeom>
        </p:spPr>
        <p:txBody>
          <a:bodyPr vert="horz" wrap="square" lIns="0" tIns="293242" rIns="0" bIns="0" rtlCol="0">
            <a:spAutoFit/>
          </a:bodyPr>
          <a:lstStyle/>
          <a:p>
            <a:pPr marL="2833370">
              <a:lnSpc>
                <a:spcPct val="100000"/>
              </a:lnSpc>
              <a:spcBef>
                <a:spcPts val="130"/>
              </a:spcBef>
            </a:pPr>
            <a:r>
              <a:rPr spc="-10" dirty="0"/>
              <a:t>OUTLINE</a:t>
            </a:r>
          </a:p>
        </p:txBody>
      </p:sp>
      <p:sp>
        <p:nvSpPr>
          <p:cNvPr id="3" name="object 3"/>
          <p:cNvSpPr txBox="1"/>
          <p:nvPr/>
        </p:nvSpPr>
        <p:spPr>
          <a:xfrm>
            <a:off x="499109" y="1123314"/>
            <a:ext cx="3378200" cy="5525872"/>
          </a:xfrm>
          <a:prstGeom prst="rect">
            <a:avLst/>
          </a:prstGeom>
        </p:spPr>
        <p:txBody>
          <a:bodyPr vert="horz" wrap="square" lIns="0" tIns="217170" rIns="0" bIns="0" rtlCol="0">
            <a:spAutoFit/>
          </a:bodyPr>
          <a:lstStyle/>
          <a:p>
            <a:pPr marL="469900" indent="-457200">
              <a:lnSpc>
                <a:spcPct val="100000"/>
              </a:lnSpc>
              <a:spcBef>
                <a:spcPts val="1710"/>
              </a:spcBef>
              <a:buSzPct val="80769"/>
              <a:buAutoNum type="arabicPeriod"/>
              <a:tabLst>
                <a:tab pos="469900" algn="l"/>
              </a:tabLst>
            </a:pPr>
            <a:r>
              <a:rPr sz="2600" spc="-10" dirty="0">
                <a:latin typeface="Times New Roman"/>
                <a:cs typeface="Times New Roman"/>
              </a:rPr>
              <a:t>Abstract</a:t>
            </a:r>
            <a:endParaRPr sz="2600" dirty="0">
              <a:latin typeface="Times New Roman"/>
              <a:cs typeface="Times New Roman"/>
            </a:endParaRPr>
          </a:p>
          <a:p>
            <a:pPr marL="469900" indent="-457200">
              <a:lnSpc>
                <a:spcPct val="100000"/>
              </a:lnSpc>
              <a:spcBef>
                <a:spcPts val="1610"/>
              </a:spcBef>
              <a:buSzPct val="80769"/>
              <a:buAutoNum type="arabicPeriod"/>
              <a:tabLst>
                <a:tab pos="469900" algn="l"/>
              </a:tabLst>
            </a:pPr>
            <a:r>
              <a:rPr sz="2600" spc="-10" dirty="0">
                <a:latin typeface="Times New Roman"/>
                <a:cs typeface="Times New Roman"/>
              </a:rPr>
              <a:t>Introduction</a:t>
            </a:r>
            <a:endParaRPr sz="2600" dirty="0">
              <a:latin typeface="Times New Roman"/>
              <a:cs typeface="Times New Roman"/>
            </a:endParaRPr>
          </a:p>
          <a:p>
            <a:pPr marL="469900" indent="-457200">
              <a:lnSpc>
                <a:spcPct val="100000"/>
              </a:lnSpc>
              <a:spcBef>
                <a:spcPts val="1689"/>
              </a:spcBef>
              <a:buSzPct val="80769"/>
              <a:buAutoNum type="arabicPeriod"/>
              <a:tabLst>
                <a:tab pos="469900" algn="l"/>
              </a:tabLst>
            </a:pPr>
            <a:r>
              <a:rPr sz="2600" dirty="0">
                <a:latin typeface="Times New Roman"/>
                <a:cs typeface="Times New Roman"/>
              </a:rPr>
              <a:t>Literature</a:t>
            </a:r>
            <a:r>
              <a:rPr sz="2600" spc="-75" dirty="0">
                <a:latin typeface="Times New Roman"/>
                <a:cs typeface="Times New Roman"/>
              </a:rPr>
              <a:t> </a:t>
            </a:r>
            <a:r>
              <a:rPr sz="2600" spc="-10" dirty="0">
                <a:latin typeface="Times New Roman"/>
                <a:cs typeface="Times New Roman"/>
              </a:rPr>
              <a:t>Survey</a:t>
            </a:r>
            <a:endParaRPr sz="2600" dirty="0">
              <a:latin typeface="Times New Roman"/>
              <a:cs typeface="Times New Roman"/>
            </a:endParaRPr>
          </a:p>
          <a:p>
            <a:pPr marL="469900" indent="-457200">
              <a:lnSpc>
                <a:spcPct val="100000"/>
              </a:lnSpc>
              <a:spcBef>
                <a:spcPts val="1610"/>
              </a:spcBef>
              <a:buSzPct val="80769"/>
              <a:buAutoNum type="arabicPeriod"/>
              <a:tabLst>
                <a:tab pos="469900" algn="l"/>
              </a:tabLst>
            </a:pPr>
            <a:r>
              <a:rPr sz="2600" dirty="0">
                <a:latin typeface="Times New Roman"/>
                <a:cs typeface="Times New Roman"/>
              </a:rPr>
              <a:t>Existing</a:t>
            </a:r>
            <a:r>
              <a:rPr sz="2600" spc="-65" dirty="0">
                <a:latin typeface="Times New Roman"/>
                <a:cs typeface="Times New Roman"/>
              </a:rPr>
              <a:t> </a:t>
            </a:r>
            <a:r>
              <a:rPr sz="2600" spc="-10" dirty="0">
                <a:latin typeface="Times New Roman"/>
                <a:cs typeface="Times New Roman"/>
              </a:rPr>
              <a:t>System</a:t>
            </a:r>
            <a:endParaRPr sz="2600" dirty="0">
              <a:latin typeface="Times New Roman"/>
              <a:cs typeface="Times New Roman"/>
            </a:endParaRPr>
          </a:p>
          <a:p>
            <a:pPr marL="469900" indent="-457200">
              <a:lnSpc>
                <a:spcPct val="100000"/>
              </a:lnSpc>
              <a:spcBef>
                <a:spcPts val="1685"/>
              </a:spcBef>
              <a:buSzPct val="80769"/>
              <a:buAutoNum type="arabicPeriod"/>
              <a:tabLst>
                <a:tab pos="469900" algn="l"/>
              </a:tabLst>
            </a:pPr>
            <a:r>
              <a:rPr sz="2600" dirty="0">
                <a:latin typeface="Times New Roman"/>
                <a:cs typeface="Times New Roman"/>
              </a:rPr>
              <a:t>Proposed</a:t>
            </a:r>
            <a:r>
              <a:rPr sz="2600" spc="-20" dirty="0">
                <a:latin typeface="Times New Roman"/>
                <a:cs typeface="Times New Roman"/>
              </a:rPr>
              <a:t> </a:t>
            </a:r>
            <a:r>
              <a:rPr sz="2600" spc="-10" dirty="0">
                <a:latin typeface="Times New Roman"/>
                <a:cs typeface="Times New Roman"/>
              </a:rPr>
              <a:t>System</a:t>
            </a:r>
            <a:endParaRPr sz="2600" dirty="0">
              <a:latin typeface="Times New Roman"/>
              <a:cs typeface="Times New Roman"/>
            </a:endParaRPr>
          </a:p>
          <a:p>
            <a:pPr marL="469900" indent="-457200">
              <a:lnSpc>
                <a:spcPct val="100000"/>
              </a:lnSpc>
              <a:spcBef>
                <a:spcPts val="1685"/>
              </a:spcBef>
              <a:buSzPct val="80769"/>
              <a:buAutoNum type="arabicPeriod"/>
              <a:tabLst>
                <a:tab pos="469900" algn="l"/>
              </a:tabLst>
            </a:pPr>
            <a:r>
              <a:rPr sz="2600" dirty="0">
                <a:latin typeface="Times New Roman"/>
                <a:cs typeface="Times New Roman"/>
              </a:rPr>
              <a:t>System</a:t>
            </a:r>
            <a:r>
              <a:rPr sz="2600" spc="-30" dirty="0">
                <a:latin typeface="Times New Roman"/>
                <a:cs typeface="Times New Roman"/>
              </a:rPr>
              <a:t> </a:t>
            </a:r>
            <a:r>
              <a:rPr sz="2600" spc="-10" dirty="0">
                <a:latin typeface="Times New Roman"/>
                <a:cs typeface="Times New Roman"/>
              </a:rPr>
              <a:t>Requirements</a:t>
            </a:r>
            <a:endParaRPr lang="en-US" sz="2600" spc="-10" dirty="0">
              <a:latin typeface="Times New Roman"/>
              <a:cs typeface="Times New Roman"/>
            </a:endParaRPr>
          </a:p>
          <a:p>
            <a:pPr marL="469900" indent="-457200">
              <a:lnSpc>
                <a:spcPct val="100000"/>
              </a:lnSpc>
              <a:spcBef>
                <a:spcPts val="1685"/>
              </a:spcBef>
              <a:buSzPct val="80769"/>
              <a:buAutoNum type="arabicPeriod"/>
              <a:tabLst>
                <a:tab pos="469900" algn="l"/>
              </a:tabLst>
            </a:pPr>
            <a:r>
              <a:rPr lang="en-IN" sz="2600" spc="-10" dirty="0">
                <a:latin typeface="Times New Roman"/>
                <a:cs typeface="Times New Roman"/>
              </a:rPr>
              <a:t>Module (Split- Up)</a:t>
            </a:r>
            <a:endParaRPr sz="2600" dirty="0">
              <a:latin typeface="Times New Roman"/>
              <a:cs typeface="Times New Roman"/>
            </a:endParaRPr>
          </a:p>
          <a:p>
            <a:pPr marL="469900" indent="-457200">
              <a:lnSpc>
                <a:spcPct val="100000"/>
              </a:lnSpc>
              <a:spcBef>
                <a:spcPts val="1614"/>
              </a:spcBef>
              <a:buSzPct val="80769"/>
              <a:buAutoNum type="arabicPeriod"/>
              <a:tabLst>
                <a:tab pos="469900" algn="l"/>
              </a:tabLst>
            </a:pPr>
            <a:r>
              <a:rPr sz="2600" spc="-10" dirty="0">
                <a:latin typeface="Times New Roman"/>
                <a:cs typeface="Times New Roman"/>
              </a:rPr>
              <a:t>Conclusion</a:t>
            </a:r>
            <a:endParaRPr sz="2600" dirty="0">
              <a:latin typeface="Times New Roman"/>
              <a:cs typeface="Times New Roman"/>
            </a:endParaRPr>
          </a:p>
          <a:p>
            <a:pPr marL="469900" indent="-457200">
              <a:lnSpc>
                <a:spcPct val="100000"/>
              </a:lnSpc>
              <a:spcBef>
                <a:spcPts val="1685"/>
              </a:spcBef>
              <a:buSzPct val="80769"/>
              <a:buAutoNum type="arabicPeriod"/>
              <a:tabLst>
                <a:tab pos="469900" algn="l"/>
              </a:tabLst>
            </a:pPr>
            <a:r>
              <a:rPr sz="2600" spc="-10" dirty="0">
                <a:latin typeface="Times New Roman"/>
                <a:cs typeface="Times New Roman"/>
              </a:rPr>
              <a:t>Reference</a:t>
            </a:r>
            <a:endParaRPr sz="26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88900">
              <a:lnSpc>
                <a:spcPts val="1240"/>
              </a:lnSpc>
            </a:pPr>
            <a:fld id="{81D60167-4931-47E6-BA6A-407CBD079E47}" type="slidenum">
              <a:rPr spc="-50" dirty="0"/>
              <a:t>3</a:t>
            </a:fld>
            <a:endParaRPr spc="-50" dirty="0"/>
          </a:p>
        </p:txBody>
      </p:sp>
      <p:sp>
        <p:nvSpPr>
          <p:cNvPr id="2" name="object 2"/>
          <p:cNvSpPr txBox="1">
            <a:spLocks noGrp="1"/>
          </p:cNvSpPr>
          <p:nvPr>
            <p:ph type="title"/>
          </p:nvPr>
        </p:nvSpPr>
        <p:spPr>
          <a:prstGeom prst="rect">
            <a:avLst/>
          </a:prstGeom>
        </p:spPr>
        <p:txBody>
          <a:bodyPr vert="horz" wrap="square" lIns="0" tIns="408558" rIns="0" bIns="0" rtlCol="0">
            <a:spAutoFit/>
          </a:bodyPr>
          <a:lstStyle/>
          <a:p>
            <a:pPr marL="2661920">
              <a:lnSpc>
                <a:spcPct val="100000"/>
              </a:lnSpc>
              <a:spcBef>
                <a:spcPts val="130"/>
              </a:spcBef>
            </a:pPr>
            <a:r>
              <a:rPr spc="-10" dirty="0"/>
              <a:t>ABSTRACT</a:t>
            </a:r>
          </a:p>
        </p:txBody>
      </p:sp>
      <p:sp>
        <p:nvSpPr>
          <p:cNvPr id="6" name="Rectangle 2">
            <a:extLst>
              <a:ext uri="{FF2B5EF4-FFF2-40B4-BE49-F238E27FC236}">
                <a16:creationId xmlns:a16="http://schemas.microsoft.com/office/drawing/2014/main" id="{64732B95-1DEC-F572-4039-8BB20CFDDF40}"/>
              </a:ext>
            </a:extLst>
          </p:cNvPr>
          <p:cNvSpPr>
            <a:spLocks noChangeArrowheads="1"/>
          </p:cNvSpPr>
          <p:nvPr/>
        </p:nvSpPr>
        <p:spPr bwMode="auto">
          <a:xfrm rot="10800000" flipV="1">
            <a:off x="838200" y="1066800"/>
            <a:ext cx="10668000" cy="510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lang="en-US" sz="2200" dirty="0">
                <a:latin typeface="Times New Roman" panose="02020603050405020304" pitchFamily="18" charset="0"/>
                <a:cs typeface="Times New Roman" panose="02020603050405020304" pitchFamily="18" charset="0"/>
              </a:rPr>
              <a:t>The rapid growth of e-commerce platforms has resulted in a vast amount of user-generated content, such as product reviews, which provide valuable insights into customer satisfaction and preferences. This project, </a:t>
            </a:r>
            <a:r>
              <a:rPr lang="en-US" sz="2200" b="1" dirty="0">
                <a:latin typeface="Times New Roman" panose="02020603050405020304" pitchFamily="18" charset="0"/>
                <a:cs typeface="Times New Roman" panose="02020603050405020304" pitchFamily="18" charset="0"/>
              </a:rPr>
              <a:t>“Decoding Customer Emotions: An NLP Approach to iPhone 14 Review Analysis”,</a:t>
            </a:r>
            <a:r>
              <a:rPr lang="en-US" sz="2200" dirty="0">
                <a:latin typeface="Times New Roman" panose="02020603050405020304" pitchFamily="18" charset="0"/>
                <a:cs typeface="Times New Roman" panose="02020603050405020304" pitchFamily="18" charset="0"/>
              </a:rPr>
              <a:t> aims to analyze and interpret customer sentiments expressed in online reviews of the iPhone 14 using Natural Language Processing (NLP) techniques. The system collects textual data from various review sources and preprocesses it through tokenization, stop-word removal, and stemming. Advanced sentiment analysis models such as BERT and Support Vector Machines (SVM) are employed to classify emotions as positive, negative, or neutral. Furthermore, topic modeling helps identify key themes influencing customer opinions, such as camera quality, battery performance, and pricing.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88900">
              <a:lnSpc>
                <a:spcPts val="1240"/>
              </a:lnSpc>
            </a:pPr>
            <a:fld id="{81D60167-4931-47E6-BA6A-407CBD079E47}" type="slidenum">
              <a:rPr spc="-50" dirty="0"/>
              <a:t>4</a:t>
            </a:fld>
            <a:endParaRPr spc="-50" dirty="0"/>
          </a:p>
        </p:txBody>
      </p:sp>
      <p:sp>
        <p:nvSpPr>
          <p:cNvPr id="2" name="object 2"/>
          <p:cNvSpPr txBox="1">
            <a:spLocks noGrp="1"/>
          </p:cNvSpPr>
          <p:nvPr>
            <p:ph type="title"/>
          </p:nvPr>
        </p:nvSpPr>
        <p:spPr>
          <a:prstGeom prst="rect">
            <a:avLst/>
          </a:prstGeom>
        </p:spPr>
        <p:txBody>
          <a:bodyPr vert="horz" wrap="square" lIns="0" tIns="272923" rIns="0" bIns="0" rtlCol="0">
            <a:spAutoFit/>
          </a:bodyPr>
          <a:lstStyle/>
          <a:p>
            <a:pPr marL="2138045">
              <a:lnSpc>
                <a:spcPct val="100000"/>
              </a:lnSpc>
              <a:spcBef>
                <a:spcPts val="130"/>
              </a:spcBef>
            </a:pPr>
            <a:r>
              <a:rPr spc="-10" dirty="0"/>
              <a:t>INTRODUCTION</a:t>
            </a:r>
          </a:p>
        </p:txBody>
      </p:sp>
      <p:sp>
        <p:nvSpPr>
          <p:cNvPr id="3" name="object 3"/>
          <p:cNvSpPr txBox="1"/>
          <p:nvPr/>
        </p:nvSpPr>
        <p:spPr>
          <a:xfrm>
            <a:off x="760412" y="1259964"/>
            <a:ext cx="10612755" cy="542456"/>
          </a:xfrm>
          <a:prstGeom prst="rect">
            <a:avLst/>
          </a:prstGeom>
        </p:spPr>
        <p:txBody>
          <a:bodyPr vert="horz" wrap="square" lIns="0" tIns="171450" rIns="0" bIns="0" rtlCol="0">
            <a:spAutoFit/>
          </a:bodyPr>
          <a:lstStyle/>
          <a:p>
            <a:pPr marL="241300" indent="-228600">
              <a:lnSpc>
                <a:spcPct val="100000"/>
              </a:lnSpc>
              <a:spcBef>
                <a:spcPts val="1350"/>
              </a:spcBef>
              <a:buSzPct val="106250"/>
              <a:buFont typeface="Arial MT"/>
              <a:buChar char="•"/>
              <a:tabLst>
                <a:tab pos="241300" algn="l"/>
              </a:tabLst>
            </a:pPr>
            <a:endParaRPr sz="2400" dirty="0">
              <a:latin typeface="Times New Roman"/>
              <a:cs typeface="Times New Roman"/>
            </a:endParaRPr>
          </a:p>
        </p:txBody>
      </p:sp>
      <p:sp>
        <p:nvSpPr>
          <p:cNvPr id="7" name="Rectangle 3">
            <a:extLst>
              <a:ext uri="{FF2B5EF4-FFF2-40B4-BE49-F238E27FC236}">
                <a16:creationId xmlns:a16="http://schemas.microsoft.com/office/drawing/2014/main" id="{3E347720-3389-C1BB-6E18-54D21D02D0A5}"/>
              </a:ext>
            </a:extLst>
          </p:cNvPr>
          <p:cNvSpPr>
            <a:spLocks noChangeArrowheads="1"/>
          </p:cNvSpPr>
          <p:nvPr/>
        </p:nvSpPr>
        <p:spPr bwMode="auto">
          <a:xfrm>
            <a:off x="498338" y="2971928"/>
            <a:ext cx="108966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738F0A95-3F41-C521-87B5-9638D85D56BE}"/>
              </a:ext>
            </a:extLst>
          </p:cNvPr>
          <p:cNvSpPr>
            <a:spLocks noChangeArrowheads="1"/>
          </p:cNvSpPr>
          <p:nvPr/>
        </p:nvSpPr>
        <p:spPr bwMode="auto">
          <a:xfrm rot="10800000" flipV="1">
            <a:off x="837405" y="1127985"/>
            <a:ext cx="10517188" cy="4602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lang="en-US" sz="2200" dirty="0">
                <a:latin typeface="Times New Roman" panose="02020603050405020304" pitchFamily="18" charset="0"/>
                <a:cs typeface="Times New Roman" panose="02020603050405020304" pitchFamily="18" charset="0"/>
              </a:rPr>
              <a:t>In the modern digital era, customer reviews have become an essential source of information for both consumers and businesses. With the rapid expansion of e-commerce platforms and social media, millions of users express their experiences and opinions about products online. Understanding these opinions provides valuable insights that can help companies enhance their products, improve marketing strategies, and increase customer satisfaction. The iPhone 14, being one of the most popular and widely discussed smartphones, has generated an extensive amount of online reviews across various platforms. However, manually analyzing such vast unstructured textual data is time-consuming and inefficient. This is where Natural Language Processing (NLP) plays a crucial role.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AF43B-3230-494D-B1AE-3043C244E96C}"/>
              </a:ext>
            </a:extLst>
          </p:cNvPr>
          <p:cNvSpPr>
            <a:spLocks noGrp="1"/>
          </p:cNvSpPr>
          <p:nvPr>
            <p:ph type="title"/>
          </p:nvPr>
        </p:nvSpPr>
        <p:spPr>
          <a:xfrm>
            <a:off x="3581400" y="387155"/>
            <a:ext cx="7552690" cy="492443"/>
          </a:xfrm>
        </p:spPr>
        <p:txBody>
          <a:bodyPr/>
          <a:lstStyle/>
          <a:p>
            <a:r>
              <a:rPr lang="en-IN" spc="-20" dirty="0"/>
              <a:t>LITERATURE</a:t>
            </a:r>
            <a:r>
              <a:rPr lang="en-IN" spc="-200" dirty="0"/>
              <a:t> </a:t>
            </a:r>
            <a:r>
              <a:rPr lang="en-IN" spc="-10" dirty="0"/>
              <a:t>SURVEY</a:t>
            </a:r>
            <a:endParaRPr lang="en-IN" dirty="0"/>
          </a:p>
        </p:txBody>
      </p:sp>
      <p:graphicFrame>
        <p:nvGraphicFramePr>
          <p:cNvPr id="4" name="Table 3">
            <a:extLst>
              <a:ext uri="{FF2B5EF4-FFF2-40B4-BE49-F238E27FC236}">
                <a16:creationId xmlns:a16="http://schemas.microsoft.com/office/drawing/2014/main" id="{04B1A7B3-A50C-4229-87D8-D9DB6D8456D3}"/>
              </a:ext>
            </a:extLst>
          </p:cNvPr>
          <p:cNvGraphicFramePr>
            <a:graphicFrameLocks noGrp="1"/>
          </p:cNvGraphicFramePr>
          <p:nvPr>
            <p:extLst>
              <p:ext uri="{D42A27DB-BD31-4B8C-83A1-F6EECF244321}">
                <p14:modId xmlns:p14="http://schemas.microsoft.com/office/powerpoint/2010/main" val="1873517192"/>
              </p:ext>
            </p:extLst>
          </p:nvPr>
        </p:nvGraphicFramePr>
        <p:xfrm>
          <a:off x="304800" y="1295401"/>
          <a:ext cx="11582404" cy="5202153"/>
        </p:xfrm>
        <a:graphic>
          <a:graphicData uri="http://schemas.openxmlformats.org/drawingml/2006/table">
            <a:tbl>
              <a:tblPr firstRow="1" bandRow="1">
                <a:tableStyleId>{5C22544A-7EE6-4342-B048-85BDC9FD1C3A}</a:tableStyleId>
              </a:tblPr>
              <a:tblGrid>
                <a:gridCol w="2895601">
                  <a:extLst>
                    <a:ext uri="{9D8B030D-6E8A-4147-A177-3AD203B41FA5}">
                      <a16:colId xmlns:a16="http://schemas.microsoft.com/office/drawing/2014/main" val="1849291947"/>
                    </a:ext>
                  </a:extLst>
                </a:gridCol>
                <a:gridCol w="2895601">
                  <a:extLst>
                    <a:ext uri="{9D8B030D-6E8A-4147-A177-3AD203B41FA5}">
                      <a16:colId xmlns:a16="http://schemas.microsoft.com/office/drawing/2014/main" val="854281900"/>
                    </a:ext>
                  </a:extLst>
                </a:gridCol>
                <a:gridCol w="2895601">
                  <a:extLst>
                    <a:ext uri="{9D8B030D-6E8A-4147-A177-3AD203B41FA5}">
                      <a16:colId xmlns:a16="http://schemas.microsoft.com/office/drawing/2014/main" val="65997249"/>
                    </a:ext>
                  </a:extLst>
                </a:gridCol>
                <a:gridCol w="2895601">
                  <a:extLst>
                    <a:ext uri="{9D8B030D-6E8A-4147-A177-3AD203B41FA5}">
                      <a16:colId xmlns:a16="http://schemas.microsoft.com/office/drawing/2014/main" val="3594895123"/>
                    </a:ext>
                  </a:extLst>
                </a:gridCol>
              </a:tblGrid>
              <a:tr h="980533">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solidFill>
                            <a:schemeClr val="lt1"/>
                          </a:solidFill>
                          <a:effectLst/>
                          <a:latin typeface="Times New Roman" panose="02020603050405020304" pitchFamily="18" charset="0"/>
                          <a:ea typeface="+mn-ea"/>
                          <a:cs typeface="Times New Roman" panose="02020603050405020304" pitchFamily="18" charset="0"/>
                        </a:rPr>
                        <a:t>Authors</a:t>
                      </a:r>
                      <a:endParaRPr lang="en-IN" dirty="0">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solidFill>
                            <a:schemeClr val="lt1"/>
                          </a:solidFill>
                          <a:effectLst/>
                          <a:latin typeface="Times New Roman" panose="02020603050405020304" pitchFamily="18" charset="0"/>
                          <a:ea typeface="+mn-ea"/>
                          <a:cs typeface="Times New Roman" panose="02020603050405020304" pitchFamily="18" charset="0"/>
                        </a:rPr>
                        <a:t>Study</a:t>
                      </a:r>
                      <a:endParaRPr lang="en-IN" dirty="0">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solidFill>
                            <a:schemeClr val="lt1"/>
                          </a:solidFill>
                          <a:effectLst/>
                          <a:latin typeface="Times New Roman" panose="02020603050405020304" pitchFamily="18" charset="0"/>
                          <a:ea typeface="+mn-ea"/>
                          <a:cs typeface="Times New Roman" panose="02020603050405020304" pitchFamily="18" charset="0"/>
                        </a:rPr>
                        <a:t>Technology used </a:t>
                      </a:r>
                      <a:endParaRPr lang="en-IN" dirty="0">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solidFill>
                            <a:schemeClr val="lt1"/>
                          </a:solidFill>
                          <a:effectLst/>
                          <a:latin typeface="Times New Roman" panose="02020603050405020304" pitchFamily="18" charset="0"/>
                          <a:ea typeface="+mn-ea"/>
                          <a:cs typeface="Times New Roman" panose="02020603050405020304" pitchFamily="18" charset="0"/>
                        </a:rPr>
                        <a:t>Contribution</a:t>
                      </a:r>
                      <a:endParaRPr lang="en-IN" dirty="0">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8738977"/>
                  </a:ext>
                </a:extLst>
              </a:tr>
              <a:tr h="739358">
                <a:tc>
                  <a:txBody>
                    <a:bodyPr/>
                    <a:lstStyle/>
                    <a:p>
                      <a:r>
                        <a:rPr lang="en-IN" dirty="0">
                          <a:latin typeface="Times New Roman" panose="02020603050405020304" pitchFamily="18" charset="0"/>
                          <a:cs typeface="Times New Roman" panose="02020603050405020304" pitchFamily="18" charset="0"/>
                        </a:rPr>
                        <a:t>Sharma et al.(2022) </a:t>
                      </a:r>
                    </a:p>
                  </a:txBody>
                  <a:tcPr/>
                </a:tc>
                <a:tc>
                  <a:txBody>
                    <a:bodyPr/>
                    <a:lstStyle/>
                    <a:p>
                      <a:r>
                        <a:rPr lang="en-US" dirty="0">
                          <a:latin typeface="Times New Roman" panose="02020603050405020304" pitchFamily="18" charset="0"/>
                          <a:cs typeface="Times New Roman" panose="02020603050405020304" pitchFamily="18" charset="0"/>
                        </a:rPr>
                        <a:t>Aspect-based Sentiment Analysis (ABSA), NLP, BERT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Aspect-based Sentiment Analysis (ABSA), NLP, BERT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Proposed a system to detect sentiments towards specific product aspects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98355852"/>
                  </a:ext>
                </a:extLst>
              </a:tr>
              <a:tr h="929780">
                <a:tc>
                  <a:txBody>
                    <a:bodyPr/>
                    <a:lstStyle/>
                    <a:p>
                      <a:r>
                        <a:rPr lang="en-IN" dirty="0">
                          <a:latin typeface="Times New Roman" panose="02020603050405020304" pitchFamily="18" charset="0"/>
                          <a:cs typeface="Times New Roman" panose="02020603050405020304" pitchFamily="18" charset="0"/>
                        </a:rPr>
                        <a:t>Kaur &amp; Kaur (2021), </a:t>
                      </a:r>
                    </a:p>
                  </a:txBody>
                  <a:tcPr/>
                </a:tc>
                <a:tc>
                  <a:txBody>
                    <a:bodyPr/>
                    <a:lstStyle/>
                    <a:p>
                      <a:r>
                        <a:rPr lang="en-US" dirty="0">
                          <a:latin typeface="Times New Roman" panose="02020603050405020304" pitchFamily="18" charset="0"/>
                          <a:cs typeface="Times New Roman" panose="02020603050405020304" pitchFamily="18" charset="0"/>
                        </a:rPr>
                        <a:t>Sentiment Analysis of Mobile Phone Reviews Using NLP Techniques”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NLP, Support Vector Machine (SVM), TF-IDF</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Focused on mobile phone review analysis to identify customer preferences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65441778"/>
                  </a:ext>
                </a:extLst>
              </a:tr>
              <a:tr h="961165">
                <a:tc>
                  <a:txBody>
                    <a:bodyPr/>
                    <a:lstStyle/>
                    <a:p>
                      <a:r>
                        <a:rPr lang="en-IN" dirty="0">
                          <a:latin typeface="Times New Roman" panose="02020603050405020304" pitchFamily="18" charset="0"/>
                          <a:cs typeface="Times New Roman" panose="02020603050405020304" pitchFamily="18" charset="0"/>
                        </a:rPr>
                        <a:t>Zhang et al. (2020)</a:t>
                      </a:r>
                    </a:p>
                  </a:txBody>
                  <a:tcPr/>
                </a:tc>
                <a:tc>
                  <a:txBody>
                    <a:bodyPr/>
                    <a:lstStyle/>
                    <a:p>
                      <a:r>
                        <a:rPr lang="en-US" dirty="0">
                          <a:latin typeface="Times New Roman" panose="02020603050405020304" pitchFamily="18" charset="0"/>
                          <a:cs typeface="Times New Roman" panose="02020603050405020304" pitchFamily="18" charset="0"/>
                        </a:rPr>
                        <a:t>“Product Review Emotion Analysis Using Deep Learning”</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CNN, LSTM, Word2Vec</a:t>
                      </a:r>
                    </a:p>
                  </a:txBody>
                  <a:tcPr/>
                </a:tc>
                <a:tc>
                  <a:txBody>
                    <a:bodyPr/>
                    <a:lstStyle/>
                    <a:p>
                      <a:r>
                        <a:rPr lang="en-US" dirty="0">
                          <a:latin typeface="Times New Roman" panose="02020603050405020304" pitchFamily="18" charset="0"/>
                          <a:cs typeface="Times New Roman" panose="02020603050405020304" pitchFamily="18" charset="0"/>
                        </a:rPr>
                        <a:t>Applied deep learning to product reviews, achieving higher emotion recognition accuracy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68474713"/>
                  </a:ext>
                </a:extLst>
              </a:tr>
              <a:tr h="961165">
                <a:tc>
                  <a:txBody>
                    <a:bodyPr/>
                    <a:lstStyle/>
                    <a:p>
                      <a:r>
                        <a:rPr lang="en-IN" dirty="0">
                          <a:latin typeface="Times New Roman" panose="02020603050405020304" pitchFamily="18" charset="0"/>
                          <a:cs typeface="Times New Roman" panose="02020603050405020304" pitchFamily="18" charset="0"/>
                        </a:rPr>
                        <a:t>Devlin et al. (2018),</a:t>
                      </a:r>
                    </a:p>
                  </a:txBody>
                  <a:tcPr/>
                </a:tc>
                <a:tc>
                  <a:txBody>
                    <a:bodyPr/>
                    <a:lstStyle/>
                    <a:p>
                      <a:r>
                        <a:rPr lang="en-US" dirty="0">
                          <a:latin typeface="Times New Roman" panose="02020603050405020304" pitchFamily="18" charset="0"/>
                          <a:cs typeface="Times New Roman" panose="02020603050405020304" pitchFamily="18" charset="0"/>
                        </a:rPr>
                        <a:t>“BERT: Pre-training of Deep Bidirectional Transformers for Language Understanding”</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Transformer Architecture, BERT model</a:t>
                      </a:r>
                    </a:p>
                  </a:txBody>
                  <a:tcPr/>
                </a:tc>
                <a:tc>
                  <a:txBody>
                    <a:bodyPr/>
                    <a:lstStyle/>
                    <a:p>
                      <a:r>
                        <a:rPr lang="en-US" dirty="0">
                          <a:latin typeface="Times New Roman" panose="02020603050405020304" pitchFamily="18" charset="0"/>
                          <a:cs typeface="Times New Roman" panose="02020603050405020304" pitchFamily="18" charset="0"/>
                        </a:rPr>
                        <a:t>Revolutionized NLP by enabling contextual word understanding, allowing for more accurate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08826856"/>
                  </a:ext>
                </a:extLst>
              </a:tr>
            </a:tbl>
          </a:graphicData>
        </a:graphic>
      </p:graphicFrame>
    </p:spTree>
    <p:extLst>
      <p:ext uri="{BB962C8B-B14F-4D97-AF65-F5344CB8AC3E}">
        <p14:creationId xmlns:p14="http://schemas.microsoft.com/office/powerpoint/2010/main" val="2397308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6</a:t>
            </a:fld>
            <a:endParaRPr spc="-25" dirty="0"/>
          </a:p>
        </p:txBody>
      </p:sp>
      <p:sp>
        <p:nvSpPr>
          <p:cNvPr id="2" name="object 2"/>
          <p:cNvSpPr txBox="1">
            <a:spLocks noGrp="1"/>
          </p:cNvSpPr>
          <p:nvPr>
            <p:ph type="title"/>
          </p:nvPr>
        </p:nvSpPr>
        <p:spPr>
          <a:prstGeom prst="rect">
            <a:avLst/>
          </a:prstGeom>
        </p:spPr>
        <p:txBody>
          <a:bodyPr vert="horz" wrap="square" lIns="0" tIns="272923" rIns="0" bIns="0" rtlCol="0">
            <a:spAutoFit/>
          </a:bodyPr>
          <a:lstStyle/>
          <a:p>
            <a:pPr marL="1890395">
              <a:lnSpc>
                <a:spcPct val="100000"/>
              </a:lnSpc>
              <a:spcBef>
                <a:spcPts val="130"/>
              </a:spcBef>
            </a:pPr>
            <a:r>
              <a:rPr dirty="0"/>
              <a:t>EXISTING</a:t>
            </a:r>
            <a:r>
              <a:rPr spc="-190" dirty="0"/>
              <a:t> </a:t>
            </a:r>
            <a:r>
              <a:rPr spc="-10" dirty="0"/>
              <a:t>SYSTEM</a:t>
            </a:r>
          </a:p>
        </p:txBody>
      </p:sp>
      <p:sp>
        <p:nvSpPr>
          <p:cNvPr id="3" name="Rectangle 1">
            <a:extLst>
              <a:ext uri="{FF2B5EF4-FFF2-40B4-BE49-F238E27FC236}">
                <a16:creationId xmlns:a16="http://schemas.microsoft.com/office/drawing/2014/main" id="{A630109E-F7A1-F140-1229-FCB5AAE0B181}"/>
              </a:ext>
            </a:extLst>
          </p:cNvPr>
          <p:cNvSpPr>
            <a:spLocks noChangeArrowheads="1"/>
          </p:cNvSpPr>
          <p:nvPr/>
        </p:nvSpPr>
        <p:spPr bwMode="auto">
          <a:xfrm rot="10800000" flipV="1">
            <a:off x="881743" y="1127985"/>
            <a:ext cx="10193401" cy="4602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lang="en-US" sz="2200" dirty="0">
                <a:latin typeface="Times New Roman" panose="02020603050405020304" pitchFamily="18" charset="0"/>
                <a:cs typeface="Times New Roman" panose="02020603050405020304" pitchFamily="18" charset="0"/>
              </a:rPr>
              <a:t>In the existing systems, sentiment analysis and opinion mining are primarily based on traditional text classification and lexicon-based methods. These systems use predefined sentiment dictionaries and simple machine learning algorithms such as Naive Bayes, Logistic Regression, or Support Vector Machines (SVM) to classify reviews as positive, negative, or neutral. While such models can handle basic polarity detection, they often fail to capture the contextual meaning of words, sarcasm, or mixed emotions in user reviews. Moreover, most existing systems are limited to sentence-level analysis and do not focus on specific product aspects like camera, battery, or design, which are crucial for a detailed understanding of customer opinions.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3A99C-DD18-3D8C-2560-C536150C4DE2}"/>
              </a:ext>
            </a:extLst>
          </p:cNvPr>
          <p:cNvSpPr>
            <a:spLocks noGrp="1"/>
          </p:cNvSpPr>
          <p:nvPr>
            <p:ph type="title"/>
          </p:nvPr>
        </p:nvSpPr>
        <p:spPr>
          <a:xfrm>
            <a:off x="1921828" y="457200"/>
            <a:ext cx="8348344" cy="984885"/>
          </a:xfrm>
        </p:spPr>
        <p:txBody>
          <a:bodyPr/>
          <a:lstStyle/>
          <a:p>
            <a:r>
              <a:rPr lang="en-US" dirty="0"/>
              <a:t>DISADVANTAGES OF EXISTING SYSTEM</a:t>
            </a:r>
            <a:endParaRPr lang="en-IN" dirty="0"/>
          </a:p>
        </p:txBody>
      </p:sp>
      <p:sp>
        <p:nvSpPr>
          <p:cNvPr id="3" name="Rectangle 1">
            <a:extLst>
              <a:ext uri="{FF2B5EF4-FFF2-40B4-BE49-F238E27FC236}">
                <a16:creationId xmlns:a16="http://schemas.microsoft.com/office/drawing/2014/main" id="{2B91094F-A0EC-4AF8-A49C-841A34E745FE}"/>
              </a:ext>
            </a:extLst>
          </p:cNvPr>
          <p:cNvSpPr>
            <a:spLocks noGrp="1" noChangeArrowheads="1"/>
          </p:cNvSpPr>
          <p:nvPr>
            <p:ph type="body" idx="1"/>
          </p:nvPr>
        </p:nvSpPr>
        <p:spPr bwMode="auto">
          <a:xfrm>
            <a:off x="823912" y="2018751"/>
            <a:ext cx="9386887" cy="358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accuracy due to reliance on simple machine learning models.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Fails to capture contextual meanings and sarcasm in reviews.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Cannot detect multiple emotions expressed in a single review.</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Focuses only on overall sentiment, not aspect-based opinions.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Requires large manually labeled datasets for training.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handling of noisy or unstructured text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Lacks visualization and interpretability of sentiment results.</a:t>
            </a:r>
          </a:p>
        </p:txBody>
      </p:sp>
    </p:spTree>
    <p:extLst>
      <p:ext uri="{BB962C8B-B14F-4D97-AF65-F5344CB8AC3E}">
        <p14:creationId xmlns:p14="http://schemas.microsoft.com/office/powerpoint/2010/main" val="2115021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8</a:t>
            </a:fld>
            <a:endParaRPr spc="-25" dirty="0"/>
          </a:p>
        </p:txBody>
      </p:sp>
      <p:sp>
        <p:nvSpPr>
          <p:cNvPr id="2" name="object 2"/>
          <p:cNvSpPr txBox="1">
            <a:spLocks noGrp="1"/>
          </p:cNvSpPr>
          <p:nvPr>
            <p:ph type="title"/>
          </p:nvPr>
        </p:nvSpPr>
        <p:spPr>
          <a:xfrm>
            <a:off x="2164270" y="328630"/>
            <a:ext cx="7552690" cy="910208"/>
          </a:xfrm>
          <a:prstGeom prst="rect">
            <a:avLst/>
          </a:prstGeom>
        </p:spPr>
        <p:txBody>
          <a:bodyPr vert="horz" wrap="square" lIns="0" tIns="204406" rIns="0" bIns="0" rtlCol="0">
            <a:spAutoFit/>
          </a:bodyPr>
          <a:lstStyle/>
          <a:p>
            <a:pPr marL="1766570">
              <a:lnSpc>
                <a:spcPct val="100000"/>
              </a:lnSpc>
              <a:spcBef>
                <a:spcPts val="125"/>
              </a:spcBef>
            </a:pPr>
            <a:r>
              <a:rPr dirty="0"/>
              <a:t>PROPOSED</a:t>
            </a:r>
            <a:r>
              <a:rPr spc="-35" dirty="0"/>
              <a:t> </a:t>
            </a:r>
            <a:r>
              <a:rPr spc="-10" dirty="0"/>
              <a:t>SYSTEM</a:t>
            </a:r>
          </a:p>
        </p:txBody>
      </p:sp>
      <p:sp>
        <p:nvSpPr>
          <p:cNvPr id="5" name="Rectangle 1">
            <a:extLst>
              <a:ext uri="{FF2B5EF4-FFF2-40B4-BE49-F238E27FC236}">
                <a16:creationId xmlns:a16="http://schemas.microsoft.com/office/drawing/2014/main" id="{EC310EA5-6948-19E1-69B5-F8C917B2693E}"/>
              </a:ext>
            </a:extLst>
          </p:cNvPr>
          <p:cNvSpPr>
            <a:spLocks noChangeArrowheads="1"/>
          </p:cNvSpPr>
          <p:nvPr/>
        </p:nvSpPr>
        <p:spPr bwMode="auto">
          <a:xfrm rot="10800000">
            <a:off x="-1507259" y="3247403"/>
            <a:ext cx="15658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76165232-F893-6226-D77B-BFD925F52DA4}"/>
              </a:ext>
            </a:extLst>
          </p:cNvPr>
          <p:cNvSpPr>
            <a:spLocks noChangeArrowheads="1"/>
          </p:cNvSpPr>
          <p:nvPr/>
        </p:nvSpPr>
        <p:spPr bwMode="auto">
          <a:xfrm rot="10800000" flipV="1">
            <a:off x="773430" y="1219200"/>
            <a:ext cx="10334371" cy="510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lang="en-US" sz="2200" dirty="0">
                <a:latin typeface="Times New Roman" panose="02020603050405020304" pitchFamily="18" charset="0"/>
                <a:cs typeface="Times New Roman" panose="02020603050405020304" pitchFamily="18" charset="0"/>
              </a:rPr>
              <a:t>The proposed system aims to overcome the limitations of traditional sentiment analysis methods by implementing advanced Natural Language Processing (NLP) and Machine Learning (ML) techniques for emotion detection in iPhone 14 reviews. The system collects customer reviews from multiple online sources and processes them through several stages, including data cleaning, tokenization, stop-word removal, and lemmatization. Pre-trained transformer-based models such as BERT, along with classifiers like Support Vector Machines (SVM), are used to identify and categorize emotions as positive, negative, or neutral with higher accuracy. Additionally, topic modeling techniques such as Latent Dirichlet Allocation (LDA) help identify major themes like camera quality, performance, battery life, and pricing</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9</a:t>
            </a:fld>
            <a:endParaRPr spc="-25" dirty="0"/>
          </a:p>
        </p:txBody>
      </p:sp>
      <p:sp>
        <p:nvSpPr>
          <p:cNvPr id="2" name="object 2"/>
          <p:cNvSpPr txBox="1">
            <a:spLocks noGrp="1"/>
          </p:cNvSpPr>
          <p:nvPr>
            <p:ph type="title"/>
          </p:nvPr>
        </p:nvSpPr>
        <p:spPr>
          <a:prstGeom prst="rect">
            <a:avLst/>
          </a:prstGeom>
        </p:spPr>
        <p:txBody>
          <a:bodyPr vert="horz" wrap="square" lIns="0" tIns="334263" rIns="0" bIns="0" rtlCol="0">
            <a:spAutoFit/>
          </a:bodyPr>
          <a:lstStyle/>
          <a:p>
            <a:pPr marL="12700">
              <a:lnSpc>
                <a:spcPct val="100000"/>
              </a:lnSpc>
              <a:spcBef>
                <a:spcPts val="130"/>
              </a:spcBef>
            </a:pPr>
            <a:r>
              <a:rPr spc="-70" dirty="0"/>
              <a:t>ADVANTAGES</a:t>
            </a:r>
            <a:r>
              <a:rPr spc="-190" dirty="0"/>
              <a:t> </a:t>
            </a:r>
            <a:r>
              <a:rPr dirty="0"/>
              <a:t>OF</a:t>
            </a:r>
            <a:r>
              <a:rPr spc="-145" dirty="0"/>
              <a:t> </a:t>
            </a:r>
            <a:r>
              <a:rPr dirty="0"/>
              <a:t>PROPOSED</a:t>
            </a:r>
            <a:r>
              <a:rPr spc="-45" dirty="0"/>
              <a:t> </a:t>
            </a:r>
            <a:r>
              <a:rPr spc="-10" dirty="0"/>
              <a:t>SYSTEM</a:t>
            </a:r>
          </a:p>
        </p:txBody>
      </p:sp>
      <p:graphicFrame>
        <p:nvGraphicFramePr>
          <p:cNvPr id="7" name="Table 6">
            <a:extLst>
              <a:ext uri="{FF2B5EF4-FFF2-40B4-BE49-F238E27FC236}">
                <a16:creationId xmlns:a16="http://schemas.microsoft.com/office/drawing/2014/main" id="{93B4DBE7-8E79-9A88-8C3E-739974811E31}"/>
              </a:ext>
            </a:extLst>
          </p:cNvPr>
          <p:cNvGraphicFramePr>
            <a:graphicFrameLocks noGrp="1"/>
          </p:cNvGraphicFramePr>
          <p:nvPr>
            <p:extLst>
              <p:ext uri="{D42A27DB-BD31-4B8C-83A1-F6EECF244321}">
                <p14:modId xmlns:p14="http://schemas.microsoft.com/office/powerpoint/2010/main" val="1836911574"/>
              </p:ext>
            </p:extLst>
          </p:nvPr>
        </p:nvGraphicFramePr>
        <p:xfrm>
          <a:off x="823913" y="3138170"/>
          <a:ext cx="10372725" cy="365760"/>
        </p:xfrm>
        <a:graphic>
          <a:graphicData uri="http://schemas.openxmlformats.org/drawingml/2006/table">
            <a:tbl>
              <a:tblPr/>
              <a:tblGrid>
                <a:gridCol w="10372725">
                  <a:extLst>
                    <a:ext uri="{9D8B030D-6E8A-4147-A177-3AD203B41FA5}">
                      <a16:colId xmlns:a16="http://schemas.microsoft.com/office/drawing/2014/main" val="4168603628"/>
                    </a:ext>
                  </a:extLst>
                </a:gridCol>
              </a:tblGrid>
              <a:tr h="0">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2399132442"/>
                  </a:ext>
                </a:extLst>
              </a:tr>
            </a:tbl>
          </a:graphicData>
        </a:graphic>
      </p:graphicFrame>
      <p:graphicFrame>
        <p:nvGraphicFramePr>
          <p:cNvPr id="8" name="Table 7">
            <a:extLst>
              <a:ext uri="{FF2B5EF4-FFF2-40B4-BE49-F238E27FC236}">
                <a16:creationId xmlns:a16="http://schemas.microsoft.com/office/drawing/2014/main" id="{CE2EAF53-0B8A-9848-D708-100FE4738C7C}"/>
              </a:ext>
            </a:extLst>
          </p:cNvPr>
          <p:cNvGraphicFramePr>
            <a:graphicFrameLocks noGrp="1"/>
          </p:cNvGraphicFramePr>
          <p:nvPr>
            <p:extLst>
              <p:ext uri="{D42A27DB-BD31-4B8C-83A1-F6EECF244321}">
                <p14:modId xmlns:p14="http://schemas.microsoft.com/office/powerpoint/2010/main" val="4215424986"/>
              </p:ext>
            </p:extLst>
          </p:nvPr>
        </p:nvGraphicFramePr>
        <p:xfrm>
          <a:off x="659628" y="1524000"/>
          <a:ext cx="10537010" cy="4557522"/>
        </p:xfrm>
        <a:graphic>
          <a:graphicData uri="http://schemas.openxmlformats.org/drawingml/2006/table">
            <a:tbl>
              <a:tblPr/>
              <a:tblGrid>
                <a:gridCol w="10537010">
                  <a:extLst>
                    <a:ext uri="{9D8B030D-6E8A-4147-A177-3AD203B41FA5}">
                      <a16:colId xmlns:a16="http://schemas.microsoft.com/office/drawing/2014/main" val="3942470722"/>
                    </a:ext>
                  </a:extLst>
                </a:gridCol>
              </a:tblGrid>
              <a:tr h="3581400">
                <a:tc>
                  <a:txBody>
                    <a:bodyPr/>
                    <a:lstStyle/>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Provides higher accuracy in sentiment and emotion detection.</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Effectively captures contextual meaning and sarcasm in reviews.</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Performs aspect-based analysis for specific product features.</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Utilizes advanced NLP models like BERT for deep text understanding.</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Handles large-scale datasets efficiently and quickly.</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Reduces manual effort through automated emotion classification.</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Offers visual insights through graphs and charts for easy interpretation.</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Enhances decision-making for product improvement and marketing.</a:t>
                      </a:r>
                    </a:p>
                    <a:p>
                      <a:pPr marL="342900" indent="-342900" algn="just">
                        <a:lnSpc>
                          <a:spcPct val="150000"/>
                        </a:lnSpc>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293411979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10</a:t>
            </a:fld>
            <a:endParaRPr spc="-25" dirty="0"/>
          </a:p>
        </p:txBody>
      </p:sp>
      <p:sp>
        <p:nvSpPr>
          <p:cNvPr id="2" name="object 2"/>
          <p:cNvSpPr txBox="1">
            <a:spLocks noGrp="1"/>
          </p:cNvSpPr>
          <p:nvPr>
            <p:ph type="title"/>
          </p:nvPr>
        </p:nvSpPr>
        <p:spPr>
          <a:prstGeom prst="rect">
            <a:avLst/>
          </a:prstGeom>
        </p:spPr>
        <p:txBody>
          <a:bodyPr vert="horz" wrap="square" lIns="0" tIns="310705" rIns="0" bIns="0" rtlCol="0">
            <a:spAutoFit/>
          </a:bodyPr>
          <a:lstStyle/>
          <a:p>
            <a:pPr marL="1203960">
              <a:lnSpc>
                <a:spcPct val="100000"/>
              </a:lnSpc>
              <a:spcBef>
                <a:spcPts val="125"/>
              </a:spcBef>
            </a:pPr>
            <a:r>
              <a:rPr dirty="0"/>
              <a:t>SYSTEM</a:t>
            </a:r>
            <a:r>
              <a:rPr spc="-145" dirty="0"/>
              <a:t> </a:t>
            </a:r>
            <a:r>
              <a:rPr spc="-10" dirty="0"/>
              <a:t>REQUIREMENTS</a:t>
            </a:r>
          </a:p>
        </p:txBody>
      </p:sp>
      <p:sp>
        <p:nvSpPr>
          <p:cNvPr id="3" name="object 3"/>
          <p:cNvSpPr txBox="1"/>
          <p:nvPr/>
        </p:nvSpPr>
        <p:spPr>
          <a:xfrm>
            <a:off x="917575" y="1674177"/>
            <a:ext cx="9369425" cy="3306674"/>
          </a:xfrm>
          <a:prstGeom prst="rect">
            <a:avLst/>
          </a:prstGeom>
        </p:spPr>
        <p:txBody>
          <a:bodyPr vert="horz" wrap="square" lIns="0" tIns="15875" rIns="0" bIns="0" rtlCol="0">
            <a:spAutoFit/>
          </a:bodyPr>
          <a:lstStyle/>
          <a:p>
            <a:pPr marL="12700">
              <a:lnSpc>
                <a:spcPct val="100000"/>
              </a:lnSpc>
              <a:spcBef>
                <a:spcPts val="125"/>
              </a:spcBef>
            </a:pPr>
            <a:r>
              <a:rPr sz="2600" b="1" spc="-25" dirty="0">
                <a:latin typeface="Times New Roman"/>
                <a:cs typeface="Times New Roman"/>
              </a:rPr>
              <a:t>HARDWARE</a:t>
            </a:r>
            <a:r>
              <a:rPr sz="2600" b="1" spc="-125" dirty="0">
                <a:latin typeface="Times New Roman"/>
                <a:cs typeface="Times New Roman"/>
              </a:rPr>
              <a:t> </a:t>
            </a:r>
            <a:r>
              <a:rPr sz="2600" b="1" spc="-10" dirty="0">
                <a:latin typeface="Times New Roman"/>
                <a:cs typeface="Times New Roman"/>
              </a:rPr>
              <a:t>REQUIREMENTS</a:t>
            </a:r>
            <a:endParaRPr sz="2600" dirty="0">
              <a:latin typeface="Times New Roman"/>
              <a:cs typeface="Times New Roman"/>
            </a:endParaRPr>
          </a:p>
          <a:p>
            <a:pPr>
              <a:lnSpc>
                <a:spcPct val="100000"/>
              </a:lnSpc>
              <a:spcBef>
                <a:spcPts val="95"/>
              </a:spcBef>
            </a:pPr>
            <a:endParaRPr sz="2600" dirty="0">
              <a:latin typeface="Times New Roman"/>
              <a:cs typeface="Times New Roman"/>
            </a:endParaRPr>
          </a:p>
          <a:p>
            <a:pPr marL="240029" indent="-227329">
              <a:lnSpc>
                <a:spcPct val="100000"/>
              </a:lnSpc>
              <a:spcBef>
                <a:spcPts val="5"/>
              </a:spcBef>
              <a:buFont typeface="Arial MT"/>
              <a:buChar char="•"/>
              <a:tabLst>
                <a:tab pos="240029" algn="l"/>
                <a:tab pos="2757805" algn="l"/>
                <a:tab pos="3672840" algn="l"/>
              </a:tabLst>
            </a:pPr>
            <a:r>
              <a:rPr sz="2200" spc="-10" dirty="0">
                <a:latin typeface="Times New Roman"/>
                <a:cs typeface="Times New Roman"/>
              </a:rPr>
              <a:t>System</a:t>
            </a:r>
            <a:r>
              <a:rPr lang="en-US" sz="2200" spc="-10" dirty="0">
                <a:latin typeface="Times New Roman"/>
                <a:cs typeface="Times New Roman"/>
              </a:rPr>
              <a:t> Processor</a:t>
            </a:r>
            <a:r>
              <a:rPr sz="2200" dirty="0">
                <a:latin typeface="Times New Roman"/>
                <a:cs typeface="Times New Roman"/>
              </a:rPr>
              <a:t>	</a:t>
            </a:r>
            <a:r>
              <a:rPr sz="2200" spc="-50" dirty="0">
                <a:latin typeface="Times New Roman"/>
                <a:cs typeface="Times New Roman"/>
              </a:rPr>
              <a:t>:</a:t>
            </a:r>
            <a:r>
              <a:rPr lang="en-IN" sz="2200" spc="-50" dirty="0">
                <a:latin typeface="Times New Roman"/>
                <a:cs typeface="Times New Roman"/>
              </a:rPr>
              <a:t>         </a:t>
            </a:r>
            <a:r>
              <a:rPr sz="2200" dirty="0">
                <a:latin typeface="Times New Roman"/>
                <a:cs typeface="Times New Roman"/>
              </a:rPr>
              <a:t>Intel</a:t>
            </a:r>
            <a:r>
              <a:rPr sz="2200" spc="-45" dirty="0">
                <a:latin typeface="Times New Roman"/>
                <a:cs typeface="Times New Roman"/>
              </a:rPr>
              <a:t> </a:t>
            </a:r>
            <a:r>
              <a:rPr sz="2200" dirty="0">
                <a:latin typeface="Times New Roman"/>
                <a:cs typeface="Times New Roman"/>
              </a:rPr>
              <a:t>Core</a:t>
            </a:r>
            <a:r>
              <a:rPr sz="2200" spc="25" dirty="0">
                <a:latin typeface="Times New Roman"/>
                <a:cs typeface="Times New Roman"/>
              </a:rPr>
              <a:t> </a:t>
            </a:r>
            <a:r>
              <a:rPr sz="2200" spc="-25" dirty="0">
                <a:latin typeface="Times New Roman"/>
                <a:cs typeface="Times New Roman"/>
              </a:rPr>
              <a:t>i</a:t>
            </a:r>
            <a:r>
              <a:rPr lang="en-US" sz="2200" spc="-25" dirty="0">
                <a:latin typeface="Times New Roman"/>
                <a:cs typeface="Times New Roman"/>
              </a:rPr>
              <a:t>5</a:t>
            </a:r>
            <a:r>
              <a:rPr sz="2200" spc="-25" dirty="0">
                <a:latin typeface="Times New Roman"/>
                <a:cs typeface="Times New Roman"/>
              </a:rPr>
              <a:t>.</a:t>
            </a:r>
            <a:endParaRPr sz="2200" dirty="0">
              <a:latin typeface="Times New Roman"/>
              <a:cs typeface="Times New Roman"/>
            </a:endParaRPr>
          </a:p>
          <a:p>
            <a:pPr>
              <a:lnSpc>
                <a:spcPct val="100000"/>
              </a:lnSpc>
              <a:spcBef>
                <a:spcPts val="290"/>
              </a:spcBef>
              <a:buFont typeface="Arial MT"/>
              <a:buChar char="•"/>
            </a:pPr>
            <a:endParaRPr sz="2200" dirty="0">
              <a:latin typeface="Times New Roman"/>
              <a:cs typeface="Times New Roman"/>
            </a:endParaRPr>
          </a:p>
          <a:p>
            <a:pPr marL="240029" indent="-227329">
              <a:lnSpc>
                <a:spcPct val="100000"/>
              </a:lnSpc>
              <a:buFont typeface="Arial MT"/>
              <a:buChar char="•"/>
              <a:tabLst>
                <a:tab pos="240029" algn="l"/>
                <a:tab pos="2755900" algn="l"/>
                <a:tab pos="3672840" algn="l"/>
              </a:tabLst>
            </a:pPr>
            <a:r>
              <a:rPr lang="en-US" sz="2200" spc="-20" dirty="0">
                <a:latin typeface="Times New Roman"/>
                <a:cs typeface="Times New Roman"/>
              </a:rPr>
              <a:t>RAM</a:t>
            </a:r>
            <a:r>
              <a:rPr sz="2200" dirty="0">
                <a:latin typeface="Times New Roman"/>
                <a:cs typeface="Times New Roman"/>
              </a:rPr>
              <a:t>	</a:t>
            </a:r>
            <a:r>
              <a:rPr sz="2200" spc="-50" dirty="0">
                <a:latin typeface="Times New Roman"/>
                <a:cs typeface="Times New Roman"/>
              </a:rPr>
              <a:t>:</a:t>
            </a:r>
            <a:r>
              <a:rPr lang="en-IN" sz="2200" spc="-50" dirty="0">
                <a:latin typeface="Times New Roman"/>
                <a:cs typeface="Times New Roman"/>
              </a:rPr>
              <a:t>         </a:t>
            </a:r>
            <a:r>
              <a:rPr lang="en-US" sz="2200" spc="-20" dirty="0">
                <a:latin typeface="Times New Roman"/>
                <a:cs typeface="Times New Roman"/>
              </a:rPr>
              <a:t>8 GB</a:t>
            </a:r>
            <a:r>
              <a:rPr sz="2200" spc="-20" dirty="0">
                <a:latin typeface="Times New Roman"/>
                <a:cs typeface="Times New Roman"/>
              </a:rPr>
              <a:t>.</a:t>
            </a:r>
            <a:endParaRPr lang="en-US" sz="2200" spc="-20" dirty="0">
              <a:latin typeface="Times New Roman"/>
              <a:cs typeface="Times New Roman"/>
            </a:endParaRPr>
          </a:p>
          <a:p>
            <a:pPr marL="240029" indent="-227329">
              <a:lnSpc>
                <a:spcPct val="100000"/>
              </a:lnSpc>
              <a:buFont typeface="Arial MT"/>
              <a:buChar char="•"/>
              <a:tabLst>
                <a:tab pos="240029" algn="l"/>
                <a:tab pos="2755900" algn="l"/>
                <a:tab pos="3672840" algn="l"/>
              </a:tabLst>
            </a:pPr>
            <a:endParaRPr lang="en-IN" sz="2200" spc="-20" dirty="0">
              <a:latin typeface="Times New Roman"/>
              <a:cs typeface="Times New Roman"/>
            </a:endParaRPr>
          </a:p>
          <a:p>
            <a:pPr marL="240029" indent="-227329">
              <a:lnSpc>
                <a:spcPct val="100000"/>
              </a:lnSpc>
              <a:buFont typeface="Arial MT"/>
              <a:buChar char="•"/>
              <a:tabLst>
                <a:tab pos="240029" algn="l"/>
                <a:tab pos="2755900" algn="l"/>
                <a:tab pos="3672840" algn="l"/>
              </a:tabLst>
            </a:pPr>
            <a:r>
              <a:rPr lang="en-IN" sz="2200" spc="-20" dirty="0">
                <a:latin typeface="Times New Roman"/>
                <a:cs typeface="Times New Roman"/>
              </a:rPr>
              <a:t>Network                       :         </a:t>
            </a:r>
            <a:r>
              <a:rPr lang="en-US" sz="2400" dirty="0">
                <a:latin typeface="Times New Roman" panose="02020603050405020304" pitchFamily="18" charset="0"/>
                <a:cs typeface="Times New Roman" panose="02020603050405020304" pitchFamily="18" charset="0"/>
              </a:rPr>
              <a:t>Required for accessing review datasets and APIs</a:t>
            </a:r>
            <a:endParaRPr sz="2200" dirty="0">
              <a:latin typeface="Times New Roman" panose="02020603050405020304" pitchFamily="18" charset="0"/>
              <a:cs typeface="Times New Roman" panose="02020603050405020304" pitchFamily="18" charset="0"/>
            </a:endParaRPr>
          </a:p>
          <a:p>
            <a:pPr>
              <a:lnSpc>
                <a:spcPct val="100000"/>
              </a:lnSpc>
              <a:spcBef>
                <a:spcPts val="295"/>
              </a:spcBef>
              <a:buFont typeface="Arial MT"/>
              <a:buChar char="•"/>
            </a:pPr>
            <a:endParaRPr sz="2200" dirty="0">
              <a:latin typeface="Times New Roman"/>
              <a:cs typeface="Times New Roman"/>
            </a:endParaRPr>
          </a:p>
          <a:p>
            <a:pPr marL="240029" indent="-227329">
              <a:lnSpc>
                <a:spcPct val="100000"/>
              </a:lnSpc>
              <a:buFont typeface="Arial MT"/>
              <a:buChar char="•"/>
              <a:tabLst>
                <a:tab pos="240029" algn="l"/>
                <a:tab pos="2757805" algn="l"/>
                <a:tab pos="3672840" algn="l"/>
              </a:tabLst>
            </a:pPr>
            <a:r>
              <a:rPr sz="2200" dirty="0">
                <a:latin typeface="Times New Roman"/>
                <a:cs typeface="Times New Roman"/>
              </a:rPr>
              <a:t>Input</a:t>
            </a:r>
            <a:r>
              <a:rPr sz="2200" spc="-65" dirty="0">
                <a:latin typeface="Times New Roman"/>
                <a:cs typeface="Times New Roman"/>
              </a:rPr>
              <a:t> </a:t>
            </a:r>
            <a:r>
              <a:rPr sz="2200" spc="-10" dirty="0">
                <a:latin typeface="Times New Roman"/>
                <a:cs typeface="Times New Roman"/>
              </a:rPr>
              <a:t>Devices</a:t>
            </a:r>
            <a:r>
              <a:rPr sz="2200" dirty="0">
                <a:latin typeface="Times New Roman"/>
                <a:cs typeface="Times New Roman"/>
              </a:rPr>
              <a:t>	</a:t>
            </a:r>
            <a:r>
              <a:rPr sz="2200" spc="-50" dirty="0">
                <a:latin typeface="Times New Roman"/>
                <a:cs typeface="Times New Roman"/>
              </a:rPr>
              <a:t>:</a:t>
            </a:r>
            <a:r>
              <a:rPr lang="en-IN" sz="2200" spc="-50" dirty="0">
                <a:latin typeface="Times New Roman"/>
                <a:cs typeface="Times New Roman"/>
              </a:rPr>
              <a:t>          </a:t>
            </a:r>
            <a:r>
              <a:rPr sz="2200" dirty="0">
                <a:latin typeface="Times New Roman"/>
                <a:cs typeface="Times New Roman"/>
              </a:rPr>
              <a:t>Keyboard,</a:t>
            </a:r>
            <a:r>
              <a:rPr sz="2200" spc="-50" dirty="0">
                <a:latin typeface="Times New Roman"/>
                <a:cs typeface="Times New Roman"/>
              </a:rPr>
              <a:t> </a:t>
            </a:r>
            <a:r>
              <a:rPr sz="2200" spc="-30" dirty="0">
                <a:latin typeface="Times New Roman"/>
                <a:cs typeface="Times New Roman"/>
              </a:rPr>
              <a:t>Mouse</a:t>
            </a:r>
            <a:endParaRPr sz="22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11</a:t>
            </a:fld>
            <a:endParaRPr spc="-25" dirty="0"/>
          </a:p>
        </p:txBody>
      </p:sp>
      <p:sp>
        <p:nvSpPr>
          <p:cNvPr id="2" name="object 2"/>
          <p:cNvSpPr txBox="1">
            <a:spLocks noGrp="1"/>
          </p:cNvSpPr>
          <p:nvPr>
            <p:ph type="title"/>
          </p:nvPr>
        </p:nvSpPr>
        <p:spPr>
          <a:xfrm>
            <a:off x="1143000" y="914400"/>
            <a:ext cx="4700905" cy="426720"/>
          </a:xfrm>
          <a:prstGeom prst="rect">
            <a:avLst/>
          </a:prstGeom>
        </p:spPr>
        <p:txBody>
          <a:bodyPr vert="horz" wrap="square" lIns="0" tIns="16510" rIns="0" bIns="0" rtlCol="0">
            <a:spAutoFit/>
          </a:bodyPr>
          <a:lstStyle/>
          <a:p>
            <a:pPr marL="12700">
              <a:lnSpc>
                <a:spcPct val="100000"/>
              </a:lnSpc>
              <a:spcBef>
                <a:spcPts val="130"/>
              </a:spcBef>
            </a:pPr>
            <a:r>
              <a:rPr sz="2600" spc="-35" dirty="0"/>
              <a:t>SOFTWARE</a:t>
            </a:r>
            <a:r>
              <a:rPr sz="2600" spc="-110" dirty="0"/>
              <a:t> </a:t>
            </a:r>
            <a:r>
              <a:rPr sz="2600" spc="-10" dirty="0"/>
              <a:t>REQUIREMENTS</a:t>
            </a:r>
            <a:endParaRPr sz="2600" dirty="0"/>
          </a:p>
        </p:txBody>
      </p:sp>
      <p:sp>
        <p:nvSpPr>
          <p:cNvPr id="5" name="Rectangle 1">
            <a:extLst>
              <a:ext uri="{FF2B5EF4-FFF2-40B4-BE49-F238E27FC236}">
                <a16:creationId xmlns:a16="http://schemas.microsoft.com/office/drawing/2014/main" id="{C6D6DC63-B9A0-0F34-D555-AB9E66B5CC67}"/>
              </a:ext>
            </a:extLst>
          </p:cNvPr>
          <p:cNvSpPr>
            <a:spLocks noChangeArrowheads="1"/>
          </p:cNvSpPr>
          <p:nvPr/>
        </p:nvSpPr>
        <p:spPr bwMode="auto">
          <a:xfrm rot="10800000" flipV="1">
            <a:off x="897001" y="1960349"/>
            <a:ext cx="10210800" cy="266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 Windows / Linux</a:t>
            </a:r>
          </a:p>
          <a:p>
            <a:pPr marL="0" marR="0" lvl="0" indent="0" algn="l" defTabSz="914400" rtl="0" eaLnBrk="0" fontAlgn="base" latinLnBrk="0" hangingPunct="0">
              <a:lnSpc>
                <a:spcPct val="150000"/>
              </a:lnSpc>
              <a:spcBef>
                <a:spcPct val="0"/>
              </a:spcBef>
              <a:spcAft>
                <a:spcPct val="0"/>
              </a:spcAft>
              <a:buClrTx/>
              <a:buSzTx/>
              <a:buFontTx/>
              <a:buChar char="•"/>
              <a:tabLst/>
            </a:pPr>
            <a:r>
              <a:rPr lang="en-US" sz="2400" dirty="0">
                <a:latin typeface="Times New Roman" panose="02020603050405020304" pitchFamily="18" charset="0"/>
                <a:cs typeface="Times New Roman" panose="02020603050405020304" pitchFamily="18" charset="0"/>
              </a:rPr>
              <a:t>Programming Language: Python 3.8 or above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lang="en-US" sz="2400" dirty="0">
                <a:latin typeface="Times New Roman" panose="02020603050405020304" pitchFamily="18" charset="0"/>
                <a:cs typeface="Times New Roman" panose="02020603050405020304" pitchFamily="18" charset="0"/>
              </a:rPr>
              <a:t>IDE / Editor: </a:t>
            </a:r>
            <a:r>
              <a:rPr lang="en-US" sz="2400" dirty="0" err="1">
                <a:latin typeface="Times New Roman" panose="02020603050405020304" pitchFamily="18" charset="0"/>
                <a:cs typeface="Times New Roman" panose="02020603050405020304" pitchFamily="18" charset="0"/>
              </a:rPr>
              <a:t>Jupyter</a:t>
            </a:r>
            <a:r>
              <a:rPr lang="en-US" sz="2400" dirty="0">
                <a:latin typeface="Times New Roman" panose="02020603050405020304" pitchFamily="18" charset="0"/>
                <a:cs typeface="Times New Roman" panose="02020603050405020304" pitchFamily="18" charset="0"/>
              </a:rPr>
              <a:t> Notebook, VS Code, or PyCharm</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MongoDB / IPFS (for decentralized storage)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Tools: TensorFlow / Scikit-learn for fraud detection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691AB-6B11-6523-9299-A160AA6B96FA}"/>
              </a:ext>
            </a:extLst>
          </p:cNvPr>
          <p:cNvSpPr>
            <a:spLocks noGrp="1"/>
          </p:cNvSpPr>
          <p:nvPr>
            <p:ph type="title"/>
          </p:nvPr>
        </p:nvSpPr>
        <p:spPr>
          <a:xfrm>
            <a:off x="1981200" y="685800"/>
            <a:ext cx="7552690" cy="1066800"/>
          </a:xfrm>
        </p:spPr>
        <p:txBody>
          <a:bodyPr/>
          <a:lstStyle/>
          <a:p>
            <a:pPr algn="ctr"/>
            <a:r>
              <a:rPr lang="en-US" sz="3600" dirty="0"/>
              <a:t>MODULES (SPLIT UP)</a:t>
            </a:r>
            <a:endParaRPr lang="en-IN" sz="3600" dirty="0"/>
          </a:p>
        </p:txBody>
      </p:sp>
      <p:sp>
        <p:nvSpPr>
          <p:cNvPr id="4" name="Rectangle 1">
            <a:extLst>
              <a:ext uri="{FF2B5EF4-FFF2-40B4-BE49-F238E27FC236}">
                <a16:creationId xmlns:a16="http://schemas.microsoft.com/office/drawing/2014/main" id="{32B4462D-8B69-6F34-2C4B-3A6E2210B605}"/>
              </a:ext>
            </a:extLst>
          </p:cNvPr>
          <p:cNvSpPr>
            <a:spLocks noGrp="1" noChangeArrowheads="1"/>
          </p:cNvSpPr>
          <p:nvPr>
            <p:ph type="body" idx="1"/>
          </p:nvPr>
        </p:nvSpPr>
        <p:spPr bwMode="auto">
          <a:xfrm rot="10800000" flipV="1">
            <a:off x="381000" y="1140649"/>
            <a:ext cx="11125200" cy="4576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lang="en-IN" sz="2000" b="1" dirty="0"/>
              <a:t>Data Collection Module-</a:t>
            </a:r>
            <a:r>
              <a:rPr lang="en-US" sz="2000" dirty="0"/>
              <a:t>Uses web scraping tools like </a:t>
            </a:r>
            <a:r>
              <a:rPr lang="en-US" sz="2000" b="1" dirty="0" err="1"/>
              <a:t>BeautifulSoup</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lang="en-IN" sz="2000" b="1" dirty="0"/>
              <a:t>Data </a:t>
            </a:r>
            <a:r>
              <a:rPr lang="en-IN" sz="2000" b="1" dirty="0" err="1"/>
              <a:t>Preprocessing</a:t>
            </a:r>
            <a:r>
              <a:rPr lang="en-IN" sz="2000" b="1" dirty="0"/>
              <a:t> Module-</a:t>
            </a:r>
            <a:r>
              <a:rPr lang="en-US" sz="2000" dirty="0"/>
              <a:t>Cleans the raw data by removing special characters,</a:t>
            </a:r>
          </a:p>
          <a:p>
            <a:pPr marL="342900" marR="0" lvl="0" indent="-342900" algn="just"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lang="en-IN" sz="2000" b="1" dirty="0"/>
              <a:t>Feature Extraction Module-</a:t>
            </a:r>
            <a:r>
              <a:rPr lang="en-US" sz="2000" dirty="0"/>
              <a:t>Converts text data into numerical form using techniques like </a:t>
            </a:r>
            <a:r>
              <a:rPr lang="en-US" sz="2000" b="1" dirty="0"/>
              <a:t>TF-IDF</a:t>
            </a:r>
          </a:p>
          <a:p>
            <a:pPr marL="342900" marR="0" lvl="0" indent="-342900" algn="just"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lang="en-IN" sz="2000" b="1" dirty="0"/>
              <a:t>Sentiment Classification Module-</a:t>
            </a:r>
            <a:r>
              <a:rPr lang="en-US" sz="2000" dirty="0"/>
              <a:t>Uses training and testing datasets to evaluate model performance.</a:t>
            </a:r>
          </a:p>
          <a:p>
            <a:pPr marL="342900" marR="0" lvl="0" indent="-342900" algn="just"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lang="en-IN" sz="2000" b="1" dirty="0"/>
              <a:t>Topic </a:t>
            </a:r>
            <a:r>
              <a:rPr lang="en-IN" sz="2000" b="1" dirty="0" err="1"/>
              <a:t>Modeling</a:t>
            </a:r>
            <a:r>
              <a:rPr lang="en-IN" sz="2000" b="1" dirty="0"/>
              <a:t> Module-</a:t>
            </a:r>
            <a:r>
              <a:rPr lang="en-US" sz="2000" dirty="0"/>
              <a:t>to detect major product discussion topics such as </a:t>
            </a:r>
            <a:r>
              <a:rPr lang="en-US" sz="2000" b="1" dirty="0"/>
              <a:t>camera, battery, design,</a:t>
            </a:r>
          </a:p>
          <a:p>
            <a:pPr marL="342900" marR="0" lvl="0" indent="-342900" algn="just"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lang="en-IN" sz="2000" b="1" dirty="0"/>
              <a:t>Visualization and Reporting Module- </a:t>
            </a:r>
            <a:r>
              <a:rPr lang="en-IN" sz="2000" dirty="0"/>
              <a:t>Emotions </a:t>
            </a:r>
            <a:r>
              <a:rPr lang="en-IN" sz="2000" dirty="0" err="1"/>
              <a:t>trents</a:t>
            </a:r>
            <a:r>
              <a:rPr lang="en-IN" sz="2000" dirty="0"/>
              <a:t> in </a:t>
            </a:r>
            <a:r>
              <a:rPr lang="en-IN" sz="2000" dirty="0" err="1"/>
              <a:t>graphs,charts,word</a:t>
            </a:r>
            <a:r>
              <a:rPr lang="en-IN" sz="2000" dirty="0"/>
              <a:t> clouds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7057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13</a:t>
            </a:fld>
            <a:endParaRPr spc="-25" dirty="0"/>
          </a:p>
        </p:txBody>
      </p:sp>
      <p:sp>
        <p:nvSpPr>
          <p:cNvPr id="2" name="object 2"/>
          <p:cNvSpPr txBox="1">
            <a:spLocks noGrp="1"/>
          </p:cNvSpPr>
          <p:nvPr>
            <p:ph type="title"/>
          </p:nvPr>
        </p:nvSpPr>
        <p:spPr>
          <a:prstGeom prst="rect">
            <a:avLst/>
          </a:prstGeom>
        </p:spPr>
        <p:txBody>
          <a:bodyPr vert="horz" wrap="square" lIns="0" tIns="263779" rIns="0" bIns="0" rtlCol="0">
            <a:spAutoFit/>
          </a:bodyPr>
          <a:lstStyle/>
          <a:p>
            <a:pPr marL="2395220">
              <a:lnSpc>
                <a:spcPct val="100000"/>
              </a:lnSpc>
              <a:spcBef>
                <a:spcPts val="130"/>
              </a:spcBef>
            </a:pPr>
            <a:r>
              <a:rPr spc="-10" dirty="0"/>
              <a:t>CONCLUSION</a:t>
            </a:r>
          </a:p>
        </p:txBody>
      </p:sp>
      <p:sp>
        <p:nvSpPr>
          <p:cNvPr id="5" name="Rectangle 1">
            <a:extLst>
              <a:ext uri="{FF2B5EF4-FFF2-40B4-BE49-F238E27FC236}">
                <a16:creationId xmlns:a16="http://schemas.microsoft.com/office/drawing/2014/main" id="{3CBF5715-AF6C-197D-9EA1-FEA85C974F29}"/>
              </a:ext>
            </a:extLst>
          </p:cNvPr>
          <p:cNvSpPr>
            <a:spLocks noGrp="1" noChangeArrowheads="1"/>
          </p:cNvSpPr>
          <p:nvPr>
            <p:ph type="body" idx="1"/>
          </p:nvPr>
        </p:nvSpPr>
        <p:spPr bwMode="auto">
          <a:xfrm>
            <a:off x="800099" y="1581341"/>
            <a:ext cx="10591800"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lang="en-US" sz="2000" dirty="0"/>
              <a:t>The project </a:t>
            </a:r>
            <a:r>
              <a:rPr lang="en-US" sz="2000" i="1" dirty="0"/>
              <a:t>“</a:t>
            </a:r>
            <a:r>
              <a:rPr lang="en-US" sz="2000" b="1" dirty="0"/>
              <a:t>Decoding Customer Emotions: An NLP Approach to iPhone 14 Review Analysis</a:t>
            </a:r>
            <a:r>
              <a:rPr lang="en-US" sz="2000" i="1" dirty="0"/>
              <a:t>”</a:t>
            </a:r>
            <a:r>
              <a:rPr lang="en-US" sz="2000" dirty="0"/>
              <a:t> successfully demonstrates the power of Natural Language Processing in understanding customer opinions from unstructured textual data. By applying advanced techniques such as text preprocessing, sentiment classification, and topic modeling, the system accurately identifies emotional patterns and key aspects influencing customer satisfaction. The use of machine learning and transformer-based models like BERT enhances the contextual understanding of language, leading to more reliable emotion detection.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14</a:t>
            </a:fld>
            <a:endParaRPr spc="-25" dirty="0"/>
          </a:p>
        </p:txBody>
      </p:sp>
      <p:sp>
        <p:nvSpPr>
          <p:cNvPr id="2" name="object 2"/>
          <p:cNvSpPr txBox="1">
            <a:spLocks noGrp="1"/>
          </p:cNvSpPr>
          <p:nvPr>
            <p:ph type="title"/>
          </p:nvPr>
        </p:nvSpPr>
        <p:spPr>
          <a:prstGeom prst="rect">
            <a:avLst/>
          </a:prstGeom>
        </p:spPr>
        <p:txBody>
          <a:bodyPr vert="horz" wrap="square" lIns="0" tIns="293242" rIns="0" bIns="0" rtlCol="0">
            <a:spAutoFit/>
          </a:bodyPr>
          <a:lstStyle/>
          <a:p>
            <a:pPr marL="2395220">
              <a:lnSpc>
                <a:spcPct val="100000"/>
              </a:lnSpc>
              <a:spcBef>
                <a:spcPts val="130"/>
              </a:spcBef>
            </a:pPr>
            <a:r>
              <a:rPr spc="-10" dirty="0"/>
              <a:t>REFERENCES</a:t>
            </a:r>
          </a:p>
        </p:txBody>
      </p:sp>
      <p:sp>
        <p:nvSpPr>
          <p:cNvPr id="3" name="Rectangle 1">
            <a:extLst>
              <a:ext uri="{FF2B5EF4-FFF2-40B4-BE49-F238E27FC236}">
                <a16:creationId xmlns:a16="http://schemas.microsoft.com/office/drawing/2014/main" id="{1E204D4E-A1E8-60E7-AF9C-21085DF61B50}"/>
              </a:ext>
            </a:extLst>
          </p:cNvPr>
          <p:cNvSpPr>
            <a:spLocks noChangeArrowheads="1"/>
          </p:cNvSpPr>
          <p:nvPr/>
        </p:nvSpPr>
        <p:spPr bwMode="auto">
          <a:xfrm rot="10800000" flipV="1">
            <a:off x="448010" y="1286578"/>
            <a:ext cx="10896600" cy="510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IN" sz="2200" dirty="0">
                <a:latin typeface="Times New Roman" panose="02020603050405020304" pitchFamily="18" charset="0"/>
                <a:cs typeface="Times New Roman" panose="02020603050405020304" pitchFamily="18" charset="0"/>
              </a:rPr>
              <a:t>[1] B. Pang and L. Lee, </a:t>
            </a:r>
            <a:r>
              <a:rPr lang="en-IN" sz="2200" i="1"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Opinion Mining and Sentiment Analysis,” Foundations and Trends in Information Retrieval, vol. 2, no. 1–2, pp. 1–135, 2008.</a:t>
            </a:r>
          </a:p>
          <a:p>
            <a:pPr algn="just">
              <a:lnSpc>
                <a:spcPct val="150000"/>
              </a:lnSpc>
            </a:pPr>
            <a:r>
              <a:rPr lang="en-IN" sz="2200" dirty="0">
                <a:latin typeface="Times New Roman" panose="02020603050405020304" pitchFamily="18" charset="0"/>
                <a:cs typeface="Times New Roman" panose="02020603050405020304" pitchFamily="18" charset="0"/>
              </a:rPr>
              <a:t>[2] B. Liu, “Sentiment Analysis and Opinion Mining</a:t>
            </a:r>
            <a:r>
              <a:rPr lang="en-IN" sz="2200" i="1"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Morgan &amp; Claypool Publishers, 2012.</a:t>
            </a:r>
          </a:p>
          <a:p>
            <a:pPr algn="just">
              <a:lnSpc>
                <a:spcPct val="150000"/>
              </a:lnSpc>
            </a:pPr>
            <a:r>
              <a:rPr lang="en-IN" sz="2200" dirty="0">
                <a:latin typeface="Times New Roman" panose="02020603050405020304" pitchFamily="18" charset="0"/>
                <a:cs typeface="Times New Roman" panose="02020603050405020304" pitchFamily="18" charset="0"/>
              </a:rPr>
              <a:t>[3] R. </a:t>
            </a:r>
            <a:r>
              <a:rPr lang="en-IN" sz="2200" dirty="0" err="1">
                <a:latin typeface="Times New Roman" panose="02020603050405020304" pitchFamily="18" charset="0"/>
                <a:cs typeface="Times New Roman" panose="02020603050405020304" pitchFamily="18" charset="0"/>
              </a:rPr>
              <a:t>Socher</a:t>
            </a:r>
            <a:r>
              <a:rPr lang="en-IN" sz="2200" dirty="0">
                <a:latin typeface="Times New Roman" panose="02020603050405020304" pitchFamily="18" charset="0"/>
                <a:cs typeface="Times New Roman" panose="02020603050405020304" pitchFamily="18" charset="0"/>
              </a:rPr>
              <a:t>, A. </a:t>
            </a:r>
            <a:r>
              <a:rPr lang="en-IN" sz="2200" dirty="0" err="1">
                <a:latin typeface="Times New Roman" panose="02020603050405020304" pitchFamily="18" charset="0"/>
                <a:cs typeface="Times New Roman" panose="02020603050405020304" pitchFamily="18" charset="0"/>
              </a:rPr>
              <a:t>Perelygin</a:t>
            </a:r>
            <a:r>
              <a:rPr lang="en-IN" sz="2200" dirty="0">
                <a:latin typeface="Times New Roman" panose="02020603050405020304" pitchFamily="18" charset="0"/>
                <a:cs typeface="Times New Roman" panose="02020603050405020304" pitchFamily="18" charset="0"/>
              </a:rPr>
              <a:t>, J. Wu, et al</a:t>
            </a:r>
            <a:r>
              <a:rPr lang="en-IN" sz="2200" i="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“Recursive Deep Models for Semantic Compositionality Over a Sentiment Treebank,” in Proc. of EMNLP, 2013, pp. 1631–1642.</a:t>
            </a:r>
          </a:p>
          <a:p>
            <a:pPr algn="just">
              <a:lnSpc>
                <a:spcPct val="150000"/>
              </a:lnSpc>
            </a:pPr>
            <a:r>
              <a:rPr lang="en-IN" sz="2200" dirty="0">
                <a:latin typeface="Times New Roman" panose="02020603050405020304" pitchFamily="18" charset="0"/>
                <a:cs typeface="Times New Roman" panose="02020603050405020304" pitchFamily="18" charset="0"/>
              </a:rPr>
              <a:t>[4] J. Devlin, M. Chang, K. Lee, and K. Toutanova, “BERT: Pre-training of Deep Bidirectional Transformers for Language Understanding,” </a:t>
            </a:r>
            <a:r>
              <a:rPr lang="en-IN" sz="2200" dirty="0" err="1">
                <a:latin typeface="Times New Roman" panose="02020603050405020304" pitchFamily="18" charset="0"/>
                <a:cs typeface="Times New Roman" panose="02020603050405020304" pitchFamily="18" charset="0"/>
              </a:rPr>
              <a:t>arXiv</a:t>
            </a:r>
            <a:r>
              <a:rPr lang="en-IN" sz="2200" dirty="0">
                <a:latin typeface="Times New Roman" panose="02020603050405020304" pitchFamily="18" charset="0"/>
                <a:cs typeface="Times New Roman" panose="02020603050405020304" pitchFamily="18" charset="0"/>
              </a:rPr>
              <a:t> preprint arXiv:1810.04805, 2018.</a:t>
            </a:r>
          </a:p>
          <a:p>
            <a:pPr algn="just">
              <a:lnSpc>
                <a:spcPct val="150000"/>
              </a:lnSpc>
            </a:pPr>
            <a:r>
              <a:rPr lang="en-IN" sz="2200" dirty="0">
                <a:latin typeface="Times New Roman" panose="02020603050405020304" pitchFamily="18" charset="0"/>
                <a:cs typeface="Times New Roman" panose="02020603050405020304" pitchFamily="18" charset="0"/>
              </a:rPr>
              <a:t>[5] Y. Zhang, M. Li, and X. Wang, “Product Review Emotion Analysis Using Deep Learning</a:t>
            </a:r>
            <a:r>
              <a:rPr lang="en-IN" sz="2200" i="1"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Journal of Computer Science and Technology, vol. 35, no. 4, pp. 789–800, 2020.</a:t>
            </a:r>
          </a:p>
          <a:p>
            <a:pPr marL="342900" indent="-342900" algn="just" rtl="0" eaLnBrk="0" fontAlgn="base" hangingPunct="0">
              <a:lnSpc>
                <a:spcPct val="150000"/>
              </a:lnSpc>
              <a:spcBef>
                <a:spcPct val="0"/>
              </a:spcBef>
              <a:spcAft>
                <a:spcPct val="0"/>
              </a:spcAft>
              <a:buFont typeface="Arial" panose="020B0604020202020204" pitchFamily="34" charset="0"/>
              <a:buChar char="•"/>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15</a:t>
            </a:fld>
            <a:endParaRPr spc="-25" dirty="0"/>
          </a:p>
        </p:txBody>
      </p:sp>
      <p:sp>
        <p:nvSpPr>
          <p:cNvPr id="2" name="object 2"/>
          <p:cNvSpPr txBox="1">
            <a:spLocks noGrp="1"/>
          </p:cNvSpPr>
          <p:nvPr>
            <p:ph type="title"/>
          </p:nvPr>
        </p:nvSpPr>
        <p:spPr>
          <a:xfrm>
            <a:off x="4769484" y="2761233"/>
            <a:ext cx="2653030" cy="575310"/>
          </a:xfrm>
          <a:prstGeom prst="rect">
            <a:avLst/>
          </a:prstGeom>
        </p:spPr>
        <p:txBody>
          <a:bodyPr vert="horz" wrap="square" lIns="0" tIns="13335" rIns="0" bIns="0" rtlCol="0">
            <a:spAutoFit/>
          </a:bodyPr>
          <a:lstStyle/>
          <a:p>
            <a:pPr marL="12700">
              <a:lnSpc>
                <a:spcPct val="100000"/>
              </a:lnSpc>
              <a:spcBef>
                <a:spcPts val="105"/>
              </a:spcBef>
            </a:pPr>
            <a:r>
              <a:rPr sz="3600" dirty="0"/>
              <a:t>QUERIES</a:t>
            </a:r>
            <a:r>
              <a:rPr sz="3600" spc="-60" dirty="0"/>
              <a:t> </a:t>
            </a:r>
            <a:r>
              <a:rPr sz="3600" spc="-25" dirty="0"/>
              <a:t>??</a:t>
            </a:r>
            <a:endParaRPr sz="3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16</a:t>
            </a:fld>
            <a:endParaRPr spc="-25" dirty="0"/>
          </a:p>
        </p:txBody>
      </p:sp>
      <p:sp>
        <p:nvSpPr>
          <p:cNvPr id="2" name="object 2"/>
          <p:cNvSpPr txBox="1">
            <a:spLocks noGrp="1"/>
          </p:cNvSpPr>
          <p:nvPr>
            <p:ph type="title"/>
          </p:nvPr>
        </p:nvSpPr>
        <p:spPr>
          <a:xfrm>
            <a:off x="4569840" y="2649219"/>
            <a:ext cx="2813685" cy="575310"/>
          </a:xfrm>
          <a:prstGeom prst="rect">
            <a:avLst/>
          </a:prstGeom>
        </p:spPr>
        <p:txBody>
          <a:bodyPr vert="horz" wrap="square" lIns="0" tIns="13335" rIns="0" bIns="0" rtlCol="0">
            <a:spAutoFit/>
          </a:bodyPr>
          <a:lstStyle/>
          <a:p>
            <a:pPr marL="12700">
              <a:lnSpc>
                <a:spcPct val="100000"/>
              </a:lnSpc>
              <a:spcBef>
                <a:spcPts val="105"/>
              </a:spcBef>
            </a:pPr>
            <a:r>
              <a:rPr sz="3600" dirty="0"/>
              <a:t>THANK</a:t>
            </a:r>
            <a:r>
              <a:rPr sz="3600" spc="-175" dirty="0"/>
              <a:t> </a:t>
            </a:r>
            <a:r>
              <a:rPr sz="3600" spc="-25" dirty="0"/>
              <a:t>YOU</a:t>
            </a:r>
            <a:endParaRPr sz="3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220</TotalTime>
  <Words>1369</Words>
  <Application>Microsoft Office PowerPoint</Application>
  <PresentationFormat>Widescreen</PresentationFormat>
  <Paragraphs>122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MT</vt:lpstr>
      <vt:lpstr>Calibri</vt:lpstr>
      <vt:lpstr>Times New Roman</vt:lpstr>
      <vt:lpstr>Office Theme</vt:lpstr>
      <vt:lpstr>St. MARTIN’S ENGINEERING COLLEGE</vt:lpstr>
      <vt:lpstr>OUTLINE</vt:lpstr>
      <vt:lpstr>ABSTRACT</vt:lpstr>
      <vt:lpstr>INTRODUCTION</vt:lpstr>
      <vt:lpstr>LITERATURE SURVEY</vt:lpstr>
      <vt:lpstr>EXISTING SYSTEM</vt:lpstr>
      <vt:lpstr>DISADVANTAGES OF EXISTING SYSTEM</vt:lpstr>
      <vt:lpstr>PROPOSED SYSTEM</vt:lpstr>
      <vt:lpstr>ADVANTAGES OF PROPOSED SYSTEM</vt:lpstr>
      <vt:lpstr>SYSTEM REQUIREMENTS</vt:lpstr>
      <vt:lpstr>SOFTWARE REQUIREMENTS</vt:lpstr>
      <vt:lpstr>MODULES (SPLIT UP)</vt:lpstr>
      <vt:lpstr>CONCLUSION</vt:lpstr>
      <vt:lpstr>REFERENCES</vt:lpstr>
      <vt:lpstr>QUERIES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 MARTIN’S ENGINEERING COLLEGE</dc:title>
  <dc:creator>Likith Reddy Baddam</dc:creator>
  <cp:lastModifiedBy>Bhanu Harshith Muda</cp:lastModifiedBy>
  <cp:revision>17</cp:revision>
  <dcterms:created xsi:type="dcterms:W3CDTF">2025-02-11T08:01:31Z</dcterms:created>
  <dcterms:modified xsi:type="dcterms:W3CDTF">2025-10-15T17:30:14Z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2025-02-11T00:00:00Z</vt:filetime>
  </property>
</Properties>
</file>